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微软雅黑" panose="020B0503020204020204" pitchFamily="34" charset="-122"/>
      <p:regular r:id="rId9"/>
      <p:bold r:id="rId10"/>
    </p:embeddedFont>
    <p:embeddedFont>
      <p:font typeface="Liter" panose="020B0604020202020204" charset="0"/>
      <p:regular r:id="rId11"/>
    </p:embeddedFont>
    <p:embeddedFont>
      <p:font typeface="Oranienbaum" panose="02000506080000020003" pitchFamily="2" charset="0"/>
      <p:regular r:id="rId12"/>
    </p:embeddedFont>
    <p:embeddedFont>
      <p:font typeface="Quattrocento Sans" panose="020B0502050000020003" pitchFamily="34" charset="0"/>
      <p:regular r:id="rId13"/>
      <p:bold r:id="rId14"/>
    </p:embeddedFont>
    <p:embeddedFont>
      <p:font typeface="Sorts Mill Goudy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50C89-4D54-4FCB-83A8-D48C7332299C}" v="7" dt="2026-02-07T02:51:55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54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Indian_rupee_sig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424c8495d700f8675977d1b9cc915c816477c3d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3749278"/>
            <a:ext cx="12192000" cy="3108722"/>
          </a:xfrm>
          <a:custGeom>
            <a:avLst/>
            <a:gdLst/>
            <a:ahLst/>
            <a:cxnLst/>
            <a:rect l="l" t="t" r="r" b="b"/>
            <a:pathLst>
              <a:path w="12192000" h="3108722">
                <a:moveTo>
                  <a:pt x="0" y="0"/>
                </a:moveTo>
                <a:lnTo>
                  <a:pt x="12192000" y="0"/>
                </a:lnTo>
                <a:lnTo>
                  <a:pt x="12192000" y="3108722"/>
                </a:lnTo>
                <a:lnTo>
                  <a:pt x="0" y="310872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2A">
                  <a:alpha val="95000"/>
                </a:srgbClr>
              </a:gs>
              <a:gs pos="50000">
                <a:srgbClr val="1A2E2A">
                  <a:alpha val="85000"/>
                </a:srgbClr>
              </a:gs>
              <a:gs pos="100000">
                <a:srgbClr val="4A7C6F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5" name="Shape 2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514350"/>
            <a:ext cx="33768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315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NeuralX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25178"/>
            <a:ext cx="120015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F5F1E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Pure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Plate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71117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054078"/>
            <a:ext cx="65436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5F1E8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Intelligent Nutrition Companion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670822"/>
            <a:ext cx="5581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4A574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AI-Powered Health, Simplified — From Complex Labels to Clear Decisions in Under 5 Seconds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14350" y="6210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13" name="Text 10"/>
          <p:cNvSpPr/>
          <p:nvPr/>
        </p:nvSpPr>
        <p:spPr>
          <a:xfrm>
            <a:off x="876300" y="619125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• Android • Web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57735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472035" y="621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16" name="Text 13"/>
          <p:cNvSpPr/>
          <p:nvPr/>
        </p:nvSpPr>
        <p:spPr>
          <a:xfrm>
            <a:off x="2853035" y="61912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AI-Native Platform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915401" y="4202906"/>
            <a:ext cx="2897684" cy="2083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b="1" kern="0" spc="53" dirty="0">
              <a:solidFill>
                <a:srgbClr val="D4A57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20000"/>
              </a:lnSpc>
            </a:pPr>
            <a:endParaRPr lang="en-US" sz="1600" b="1" kern="0" spc="53" dirty="0">
              <a:solidFill>
                <a:srgbClr val="D4A57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20000"/>
              </a:lnSpc>
            </a:pPr>
            <a:endParaRPr lang="en-US" sz="1600" b="1" kern="0" spc="53" dirty="0">
              <a:solidFill>
                <a:srgbClr val="D4A57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20000"/>
              </a:lnSpc>
            </a:pPr>
            <a:endParaRPr lang="en-US" sz="1600" b="1" kern="0" spc="53" dirty="0">
              <a:solidFill>
                <a:srgbClr val="D4A57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20000"/>
              </a:lnSpc>
            </a:pPr>
            <a:endParaRPr lang="en-US" sz="1600" b="1" kern="0" spc="53" dirty="0">
              <a:solidFill>
                <a:srgbClr val="D4A57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20000"/>
              </a:lnSpc>
            </a:pPr>
            <a:endParaRPr lang="en-US" sz="1600" b="1" kern="0" spc="53" dirty="0">
              <a:solidFill>
                <a:srgbClr val="D4A574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2000" b="1" kern="0" spc="5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LOGICLOOP</a:t>
            </a:r>
          </a:p>
          <a:p>
            <a:pPr>
              <a:lnSpc>
                <a:spcPct val="120000"/>
              </a:lnSpc>
            </a:pPr>
            <a:r>
              <a:rPr lang="en-US" sz="1400" b="1" kern="0" spc="5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Leader-</a:t>
            </a:r>
          </a:p>
          <a:p>
            <a:pPr>
              <a:lnSpc>
                <a:spcPct val="120000"/>
              </a:lnSpc>
            </a:pPr>
            <a:r>
              <a:rPr lang="en-US" sz="1400" b="1" kern="0" spc="53" dirty="0">
                <a:solidFill>
                  <a:schemeClr val="bg2">
                    <a:lumMod val="9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Ninad Hazarika (ECB25018)</a:t>
            </a:r>
          </a:p>
          <a:p>
            <a:pPr>
              <a:lnSpc>
                <a:spcPct val="120000"/>
              </a:lnSpc>
            </a:pPr>
            <a:r>
              <a:rPr lang="en-US" sz="1400" b="1" kern="0" spc="53" dirty="0">
                <a:solidFill>
                  <a:schemeClr val="accent4">
                    <a:lumMod val="7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Members-</a:t>
            </a:r>
            <a:br>
              <a:rPr lang="en-US" sz="1400" b="1" kern="0" spc="53" dirty="0">
                <a:solidFill>
                  <a:schemeClr val="bg2">
                    <a:lumMod val="9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</a:br>
            <a:r>
              <a:rPr lang="en-US" sz="1400" b="1" kern="0" spc="53" dirty="0">
                <a:solidFill>
                  <a:schemeClr val="bg2">
                    <a:lumMod val="9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Anjanabh Goswami (ECB25009)</a:t>
            </a:r>
          </a:p>
          <a:p>
            <a:pPr>
              <a:lnSpc>
                <a:spcPct val="120000"/>
              </a:lnSpc>
            </a:pPr>
            <a:r>
              <a:rPr lang="en-US" sz="1400" b="1" kern="0" spc="53" dirty="0">
                <a:solidFill>
                  <a:schemeClr val="bg2">
                    <a:lumMod val="9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Chinmoy Hazarika (CSB25071)</a:t>
            </a:r>
            <a:br>
              <a:rPr lang="en-US" sz="1400" b="1" kern="0" spc="53" dirty="0">
                <a:solidFill>
                  <a:schemeClr val="bg2">
                    <a:lumMod val="9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</a:br>
            <a:r>
              <a:rPr lang="en-US" sz="1400" b="1" kern="0" spc="53" dirty="0">
                <a:solidFill>
                  <a:schemeClr val="bg2">
                    <a:lumMod val="9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Prabal Barman (FETM25003)</a:t>
            </a:r>
            <a:br>
              <a:rPr lang="en-US" sz="1400" b="1" kern="0" spc="53" dirty="0">
                <a:solidFill>
                  <a:schemeClr val="bg2">
                    <a:lumMod val="90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</a:br>
            <a:endParaRPr lang="en-US" sz="1400" b="1" kern="0" spc="53" dirty="0">
              <a:solidFill>
                <a:schemeClr val="accent4">
                  <a:lumMod val="60000"/>
                  <a:lumOff val="40000"/>
                </a:scheme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20000"/>
              </a:lnSpc>
            </a:pPr>
            <a:endParaRPr lang="en-US" sz="1400" b="1" kern="0" spc="53" dirty="0">
              <a:solidFill>
                <a:schemeClr val="accent4">
                  <a:lumMod val="40000"/>
                  <a:lumOff val="60000"/>
                </a:scheme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r">
              <a:lnSpc>
                <a:spcPct val="120000"/>
              </a:lnSpc>
            </a:pPr>
            <a:endParaRPr lang="en-US" sz="1050" b="1" kern="0" spc="53" dirty="0">
              <a:solidFill>
                <a:srgbClr val="D4A574"/>
              </a:solidFill>
              <a:latin typeface="Quattrocento Sans" pitchFamily="34" charset="0"/>
            </a:endParaRPr>
          </a:p>
          <a:p>
            <a:pPr algn="r">
              <a:lnSpc>
                <a:spcPct val="120000"/>
              </a:lnSpc>
            </a:pPr>
            <a:endParaRPr lang="en-US" sz="1050" b="1" kern="0" spc="53" dirty="0">
              <a:solidFill>
                <a:srgbClr val="D4A574"/>
              </a:solidFill>
              <a:latin typeface="Quattrocento Sans" pitchFamily="34" charset="0"/>
            </a:endParaRPr>
          </a:p>
          <a:p>
            <a:pPr algn="r">
              <a:lnSpc>
                <a:spcPct val="120000"/>
              </a:lnSpc>
            </a:pPr>
            <a:endParaRPr lang="en-US" sz="1050" b="1" kern="0" spc="53" dirty="0">
              <a:solidFill>
                <a:srgbClr val="D4A574"/>
              </a:solidFill>
              <a:latin typeface="Quattrocento Sans" pitchFamily="34" charset="0"/>
            </a:endParaRPr>
          </a:p>
          <a:p>
            <a:pPr algn="r">
              <a:lnSpc>
                <a:spcPct val="120000"/>
              </a:lnSpc>
            </a:pPr>
            <a:endParaRPr lang="en-US" sz="1050" b="1" kern="0" spc="53" dirty="0">
              <a:solidFill>
                <a:srgbClr val="D4A574"/>
              </a:solidFill>
              <a:latin typeface="Quattrocento Sans" pitchFamily="34" charset="0"/>
            </a:endParaRPr>
          </a:p>
          <a:p>
            <a:pPr algn="r">
              <a:lnSpc>
                <a:spcPct val="120000"/>
              </a:lnSpc>
            </a:pPr>
            <a:endParaRPr lang="en-US" sz="1050" b="1" kern="0" spc="53" dirty="0">
              <a:solidFill>
                <a:srgbClr val="D4A574"/>
              </a:solidFill>
              <a:latin typeface="Quattrocento Sans" pitchFamily="34" charset="0"/>
            </a:endParaRPr>
          </a:p>
          <a:p>
            <a:pPr algn="r">
              <a:lnSpc>
                <a:spcPct val="120000"/>
              </a:lnSpc>
            </a:pPr>
            <a:endParaRPr lang="en-US" sz="1050" b="1" kern="0" spc="53" dirty="0">
              <a:solidFill>
                <a:srgbClr val="D4A574"/>
              </a:solidFill>
              <a:latin typeface="Quattrocento Sans" pitchFamily="34" charset="0"/>
            </a:endParaRPr>
          </a:p>
          <a:p>
            <a:pPr algn="r">
              <a:lnSpc>
                <a:spcPct val="120000"/>
              </a:lnSpc>
            </a:pPr>
            <a:endParaRPr lang="en-US" sz="1050" b="1" kern="0" spc="53" dirty="0">
              <a:solidFill>
                <a:srgbClr val="D4A574"/>
              </a:solidFill>
              <a:latin typeface="Quattrocento Sans" pitchFamily="34" charset="0"/>
            </a:endParaRPr>
          </a:p>
          <a:p>
            <a:pPr algn="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77476" y="6191250"/>
            <a:ext cx="1238250" cy="21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200" dirty="0"/>
          </a:p>
        </p:txBody>
      </p:sp>
      <p:pic>
        <p:nvPicPr>
          <p:cNvPr id="19" name="Image 1" descr="https://kimi-img.moonshot.cn/pub/slides/26-02-07-02:58:20-d633jj7b6fip8bs6dv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565" y="0"/>
            <a:ext cx="1238435" cy="11167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7625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1E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Health Management is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Fragmented &amp; Complex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2251075"/>
            <a:ext cx="5597525" cy="3178175"/>
          </a:xfrm>
          <a:custGeom>
            <a:avLst/>
            <a:gdLst/>
            <a:ahLst/>
            <a:cxnLst/>
            <a:rect l="l" t="t" r="r" b="b"/>
            <a:pathLst>
              <a:path w="5597525" h="3178175">
                <a:moveTo>
                  <a:pt x="152393" y="0"/>
                </a:moveTo>
                <a:lnTo>
                  <a:pt x="5445132" y="0"/>
                </a:lnTo>
                <a:cubicBezTo>
                  <a:pt x="5529296" y="0"/>
                  <a:pt x="5597525" y="68229"/>
                  <a:pt x="5597525" y="152393"/>
                </a:cubicBezTo>
                <a:lnTo>
                  <a:pt x="5597525" y="3025782"/>
                </a:lnTo>
                <a:cubicBezTo>
                  <a:pt x="5597525" y="3109946"/>
                  <a:pt x="5529296" y="3178175"/>
                  <a:pt x="5445132" y="3178175"/>
                </a:cubicBezTo>
                <a:lnTo>
                  <a:pt x="152393" y="3178175"/>
                </a:lnTo>
                <a:cubicBezTo>
                  <a:pt x="68229" y="3178175"/>
                  <a:pt x="0" y="3109946"/>
                  <a:pt x="0" y="30257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950" y="24828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8350" y="26352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8" name="Text 6"/>
          <p:cNvSpPr/>
          <p:nvPr/>
        </p:nvSpPr>
        <p:spPr>
          <a:xfrm>
            <a:off x="1301750" y="2482851"/>
            <a:ext cx="456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Overload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1750" y="2863851"/>
            <a:ext cx="4524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juggle </a:t>
            </a:r>
            <a:r>
              <a:rPr lang="en-US" sz="120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 apps</a:t>
            </a:r>
            <a:r>
              <a:rPr lang="en-US" sz="12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BMI, calories, allergies, and meal planning — creating friction and confusion.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950" y="3511551"/>
            <a:ext cx="5133975" cy="1685925"/>
          </a:xfrm>
          <a:custGeom>
            <a:avLst/>
            <a:gdLst/>
            <a:ahLst/>
            <a:cxnLst/>
            <a:rect l="l" t="t" r="r" b="b"/>
            <a:pathLst>
              <a:path w="5133975" h="1685925">
                <a:moveTo>
                  <a:pt x="114306" y="0"/>
                </a:moveTo>
                <a:lnTo>
                  <a:pt x="5019669" y="0"/>
                </a:lnTo>
                <a:cubicBezTo>
                  <a:pt x="5082799" y="0"/>
                  <a:pt x="5133975" y="51176"/>
                  <a:pt x="5133975" y="114306"/>
                </a:cubicBezTo>
                <a:lnTo>
                  <a:pt x="5133975" y="1571619"/>
                </a:lnTo>
                <a:cubicBezTo>
                  <a:pt x="5133975" y="1634749"/>
                  <a:pt x="5082799" y="1685925"/>
                  <a:pt x="50196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06450" y="393700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Abandonment 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50706" y="3822700"/>
            <a:ext cx="93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C54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73%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450" y="4432300"/>
            <a:ext cx="4752975" cy="114300"/>
          </a:xfrm>
          <a:custGeom>
            <a:avLst/>
            <a:gdLst/>
            <a:ahLst/>
            <a:cxnLst/>
            <a:rect l="l" t="t" r="r" b="b"/>
            <a:pathLst>
              <a:path w="4752975" h="114300">
                <a:moveTo>
                  <a:pt x="57150" y="0"/>
                </a:moveTo>
                <a:lnTo>
                  <a:pt x="4695825" y="0"/>
                </a:lnTo>
                <a:cubicBezTo>
                  <a:pt x="4727367" y="0"/>
                  <a:pt x="4752975" y="25608"/>
                  <a:pt x="4752975" y="57150"/>
                </a:cubicBezTo>
                <a:lnTo>
                  <a:pt x="4752975" y="57150"/>
                </a:lnTo>
                <a:cubicBezTo>
                  <a:pt x="4752975" y="88692"/>
                  <a:pt x="4727367" y="114300"/>
                  <a:pt x="469582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7C6F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6450" y="4432300"/>
            <a:ext cx="3467100" cy="114300"/>
          </a:xfrm>
          <a:custGeom>
            <a:avLst/>
            <a:gdLst/>
            <a:ahLst/>
            <a:cxnLst/>
            <a:rect l="l" t="t" r="r" b="b"/>
            <a:pathLst>
              <a:path w="3467100" h="114300">
                <a:moveTo>
                  <a:pt x="57150" y="0"/>
                </a:moveTo>
                <a:lnTo>
                  <a:pt x="3409950" y="0"/>
                </a:lnTo>
                <a:cubicBezTo>
                  <a:pt x="3441492" y="0"/>
                  <a:pt x="3467100" y="25608"/>
                  <a:pt x="3467100" y="57150"/>
                </a:cubicBezTo>
                <a:lnTo>
                  <a:pt x="3467100" y="57150"/>
                </a:lnTo>
                <a:cubicBezTo>
                  <a:pt x="3467100" y="88692"/>
                  <a:pt x="3441492" y="114300"/>
                  <a:pt x="34099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806450" y="4699000"/>
            <a:ext cx="481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users abandon health apps within 30 days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3475" y="2251075"/>
            <a:ext cx="5597525" cy="3178175"/>
          </a:xfrm>
          <a:custGeom>
            <a:avLst/>
            <a:gdLst/>
            <a:ahLst/>
            <a:cxnLst/>
            <a:rect l="l" t="t" r="r" b="b"/>
            <a:pathLst>
              <a:path w="5597525" h="3178175">
                <a:moveTo>
                  <a:pt x="152393" y="0"/>
                </a:moveTo>
                <a:lnTo>
                  <a:pt x="5445132" y="0"/>
                </a:lnTo>
                <a:cubicBezTo>
                  <a:pt x="5529296" y="0"/>
                  <a:pt x="5597525" y="68229"/>
                  <a:pt x="5597525" y="152393"/>
                </a:cubicBezTo>
                <a:lnTo>
                  <a:pt x="5597525" y="3025782"/>
                </a:lnTo>
                <a:cubicBezTo>
                  <a:pt x="5597525" y="3109946"/>
                  <a:pt x="5529296" y="3178175"/>
                  <a:pt x="5445132" y="3178175"/>
                </a:cubicBezTo>
                <a:lnTo>
                  <a:pt x="152393" y="3178175"/>
                </a:lnTo>
                <a:cubicBezTo>
                  <a:pt x="68229" y="3178175"/>
                  <a:pt x="0" y="3109946"/>
                  <a:pt x="0" y="302578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5250" y="24828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97650" y="26352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1050" y="2482851"/>
            <a:ext cx="456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 Confusion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1050" y="2863851"/>
            <a:ext cx="4524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jargon like </a:t>
            </a:r>
            <a:r>
              <a:rPr lang="en-US" sz="12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"high fructose corn syrup"</a:t>
            </a:r>
            <a:r>
              <a:rPr lang="en-US" sz="12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2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"sodium benzoate"</a:t>
            </a:r>
            <a:r>
              <a:rPr lang="en-US" sz="12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overwhelms consumers.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5250" y="3511551"/>
            <a:ext cx="5133975" cy="1685925"/>
          </a:xfrm>
          <a:custGeom>
            <a:avLst/>
            <a:gdLst/>
            <a:ahLst/>
            <a:cxnLst/>
            <a:rect l="l" t="t" r="r" b="b"/>
            <a:pathLst>
              <a:path w="5133975" h="1685925">
                <a:moveTo>
                  <a:pt x="114306" y="0"/>
                </a:moveTo>
                <a:lnTo>
                  <a:pt x="5019669" y="0"/>
                </a:lnTo>
                <a:cubicBezTo>
                  <a:pt x="5082799" y="0"/>
                  <a:pt x="5133975" y="51176"/>
                  <a:pt x="5133975" y="114306"/>
                </a:cubicBezTo>
                <a:lnTo>
                  <a:pt x="5133975" y="1571619"/>
                </a:lnTo>
                <a:cubicBezTo>
                  <a:pt x="5133975" y="1634749"/>
                  <a:pt x="5082799" y="1685925"/>
                  <a:pt x="50196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35750" y="387985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C54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220M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35750" y="429895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with food allergies globally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49730" y="3898900"/>
            <a:ext cx="163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2-3 min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25930" y="42799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visits from anaphylaxis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54800" y="4670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27" name="Text 25"/>
          <p:cNvSpPr/>
          <p:nvPr/>
        </p:nvSpPr>
        <p:spPr>
          <a:xfrm>
            <a:off x="6878638" y="464185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cannot identify common additives or allergens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175" y="5629276"/>
            <a:ext cx="11426825" cy="844550"/>
          </a:xfrm>
          <a:custGeom>
            <a:avLst/>
            <a:gdLst/>
            <a:ahLst/>
            <a:cxnLst/>
            <a:rect l="l" t="t" r="r" b="b"/>
            <a:pathLst>
              <a:path w="11426825" h="844550">
                <a:moveTo>
                  <a:pt x="114301" y="0"/>
                </a:moveTo>
                <a:lnTo>
                  <a:pt x="11312524" y="0"/>
                </a:lnTo>
                <a:cubicBezTo>
                  <a:pt x="11375651" y="0"/>
                  <a:pt x="11426825" y="51174"/>
                  <a:pt x="11426825" y="114301"/>
                </a:cubicBezTo>
                <a:lnTo>
                  <a:pt x="11426825" y="730249"/>
                </a:lnTo>
                <a:cubicBezTo>
                  <a:pt x="11426825" y="793376"/>
                  <a:pt x="11375651" y="844550"/>
                  <a:pt x="11312524" y="844550"/>
                </a:cubicBezTo>
                <a:lnTo>
                  <a:pt x="114301" y="844550"/>
                </a:lnTo>
                <a:cubicBezTo>
                  <a:pt x="51174" y="844550"/>
                  <a:pt x="0" y="793376"/>
                  <a:pt x="0" y="73024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574">
                  <a:alpha val="20000"/>
                </a:srgbClr>
              </a:gs>
              <a:gs pos="100000">
                <a:srgbClr val="4A7C6F">
                  <a:alpha val="20000"/>
                </a:srgbClr>
              </a:gs>
            </a:gsLst>
            <a:lin ang="0" scaled="1"/>
          </a:gradFill>
          <a:ln w="8467">
            <a:solidFill>
              <a:srgbClr val="D4A574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663" y="595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30" name="Text 28"/>
          <p:cNvSpPr/>
          <p:nvPr/>
        </p:nvSpPr>
        <p:spPr>
          <a:xfrm>
            <a:off x="930275" y="5937250"/>
            <a:ext cx="730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Gap: No real-time AI solution combines instant food interpretation with comprehensive health tracking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33012" y="5822950"/>
            <a:ext cx="111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IN" b="1" dirty="0"/>
              <a:t>₹</a:t>
            </a:r>
            <a:r>
              <a:rPr lang="en-US" sz="1600" b="1" dirty="0">
                <a:solidFill>
                  <a:srgbClr val="E8C547"/>
                </a:solidFill>
                <a:latin typeface="Oranienbaum" pitchFamily="34" charset="0"/>
              </a:rPr>
              <a:t>9365Cr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90162" y="6127750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Nutrition by 2034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59951" y="5822950"/>
            <a:ext cx="1057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IN" sz="1600" b="1" dirty="0"/>
              <a:t>₹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96870Cr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617101" y="6127750"/>
            <a:ext cx="100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Health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ioengineer.org/47820f90a296244c4fb41b4dab3ed00be612cca5.jpeg"/>
          <p:cNvPicPr>
            <a:picLocks noChangeAspect="1"/>
          </p:cNvPicPr>
          <p:nvPr/>
        </p:nvPicPr>
        <p:blipFill>
          <a:blip r:embed="rId3">
            <a:alphaModFix amt="15000"/>
          </a:blip>
          <a:srcRect l="5556" r="5556"/>
          <a:stretch/>
        </p:blipFill>
        <p:spPr>
          <a:xfrm>
            <a:off x="-99" y="-3810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99" y="-381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2A">
                  <a:alpha val="98000"/>
                </a:srgbClr>
              </a:gs>
              <a:gs pos="50000">
                <a:srgbClr val="1A2E2A">
                  <a:alpha val="95000"/>
                </a:srgbClr>
              </a:gs>
              <a:gs pos="100000">
                <a:srgbClr val="1A2E2A">
                  <a:alpha val="85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7625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763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1E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One AI-Native Platform,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Complete Health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133600"/>
            <a:ext cx="741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complex health decisions into clear guidance in </a:t>
            </a:r>
            <a:r>
              <a:rPr lang="en-US" sz="150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7 seconds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22970" y="3009107"/>
            <a:ext cx="556894" cy="190500"/>
          </a:xfrm>
          <a:custGeom>
            <a:avLst/>
            <a:gdLst/>
            <a:ahLst/>
            <a:cxnLst/>
            <a:rect l="l" t="t" r="r" b="b"/>
            <a:pathLst>
              <a:path w="556894" h="190500">
                <a:moveTo>
                  <a:pt x="162174" y="24110"/>
                </a:moveTo>
                <a:lnTo>
                  <a:pt x="150862" y="35719"/>
                </a:lnTo>
                <a:lnTo>
                  <a:pt x="69612" y="35719"/>
                </a:lnTo>
                <a:cubicBezTo>
                  <a:pt x="31217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31217" y="178594"/>
                  <a:pt x="69612" y="178594"/>
                </a:cubicBezTo>
                <a:lnTo>
                  <a:pt x="487282" y="178594"/>
                </a:lnTo>
                <a:cubicBezTo>
                  <a:pt x="525677" y="178594"/>
                  <a:pt x="556894" y="167915"/>
                  <a:pt x="556894" y="154781"/>
                </a:cubicBezTo>
                <a:lnTo>
                  <a:pt x="556894" y="59531"/>
                </a:lnTo>
                <a:cubicBezTo>
                  <a:pt x="556894" y="46397"/>
                  <a:pt x="525677" y="35719"/>
                  <a:pt x="487282" y="35719"/>
                </a:cubicBezTo>
                <a:lnTo>
                  <a:pt x="406032" y="35719"/>
                </a:lnTo>
                <a:lnTo>
                  <a:pt x="394720" y="24110"/>
                </a:lnTo>
                <a:cubicBezTo>
                  <a:pt x="387650" y="16818"/>
                  <a:pt x="367746" y="11906"/>
                  <a:pt x="345231" y="11906"/>
                </a:cubicBezTo>
                <a:lnTo>
                  <a:pt x="211663" y="11906"/>
                </a:lnTo>
                <a:cubicBezTo>
                  <a:pt x="189148" y="11906"/>
                  <a:pt x="169244" y="16818"/>
                  <a:pt x="162174" y="24110"/>
                </a:cubicBezTo>
                <a:close/>
                <a:moveTo>
                  <a:pt x="278447" y="71438"/>
                </a:moveTo>
                <a:cubicBezTo>
                  <a:pt x="336077" y="71438"/>
                  <a:pt x="382865" y="87443"/>
                  <a:pt x="382865" y="107156"/>
                </a:cubicBezTo>
                <a:cubicBezTo>
                  <a:pt x="382865" y="126870"/>
                  <a:pt x="336077" y="142875"/>
                  <a:pt x="278447" y="142875"/>
                </a:cubicBezTo>
                <a:cubicBezTo>
                  <a:pt x="220817" y="142875"/>
                  <a:pt x="174029" y="126870"/>
                  <a:pt x="174029" y="107156"/>
                </a:cubicBezTo>
                <a:cubicBezTo>
                  <a:pt x="174029" y="87443"/>
                  <a:pt x="220817" y="71438"/>
                  <a:pt x="278447" y="71438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9" name="Text 6"/>
          <p:cNvSpPr/>
          <p:nvPr/>
        </p:nvSpPr>
        <p:spPr>
          <a:xfrm>
            <a:off x="1078772" y="3561557"/>
            <a:ext cx="8965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Search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3716" y="3828257"/>
            <a:ext cx="1266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Search engine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41178" y="32766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2" name="Shape 9"/>
          <p:cNvSpPr/>
          <p:nvPr/>
        </p:nvSpPr>
        <p:spPr>
          <a:xfrm>
            <a:off x="3402211" y="279955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99855" y="300910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14" name="Text 11"/>
          <p:cNvSpPr/>
          <p:nvPr/>
        </p:nvSpPr>
        <p:spPr>
          <a:xfrm>
            <a:off x="3436739" y="3523457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094335" y="3828257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Ingredients Knowledge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830068" y="32766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7" name="Shape 14"/>
          <p:cNvSpPr/>
          <p:nvPr/>
        </p:nvSpPr>
        <p:spPr>
          <a:xfrm>
            <a:off x="5791101" y="279955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00651" y="300910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19" name="Text 16"/>
          <p:cNvSpPr/>
          <p:nvPr/>
        </p:nvSpPr>
        <p:spPr>
          <a:xfrm>
            <a:off x="5797650" y="3523457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565874" y="3828257"/>
            <a:ext cx="1057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interprets data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218958" y="32766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2" name="Shape 19"/>
          <p:cNvSpPr/>
          <p:nvPr/>
        </p:nvSpPr>
        <p:spPr>
          <a:xfrm>
            <a:off x="8179991" y="279955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365728" y="300910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436" y="2977"/>
                </a:moveTo>
                <a:cubicBezTo>
                  <a:pt x="120078" y="2977"/>
                  <a:pt x="140084" y="22983"/>
                  <a:pt x="140084" y="47625"/>
                </a:cubicBezTo>
                <a:cubicBezTo>
                  <a:pt x="140084" y="72267"/>
                  <a:pt x="120078" y="92273"/>
                  <a:pt x="95436" y="92273"/>
                </a:cubicBezTo>
                <a:cubicBezTo>
                  <a:pt x="70794" y="92273"/>
                  <a:pt x="50788" y="72267"/>
                  <a:pt x="50788" y="47625"/>
                </a:cubicBezTo>
                <a:cubicBezTo>
                  <a:pt x="50788" y="22983"/>
                  <a:pt x="70794" y="2977"/>
                  <a:pt x="95436" y="2977"/>
                </a:cubicBezTo>
                <a:close/>
                <a:moveTo>
                  <a:pt x="84348" y="113109"/>
                </a:moveTo>
                <a:lnTo>
                  <a:pt x="106449" y="113109"/>
                </a:lnTo>
                <a:lnTo>
                  <a:pt x="107007" y="113109"/>
                </a:lnTo>
                <a:cubicBezTo>
                  <a:pt x="102208" y="123081"/>
                  <a:pt x="104105" y="134764"/>
                  <a:pt x="111286" y="142689"/>
                </a:cubicBezTo>
                <a:cubicBezTo>
                  <a:pt x="103770" y="150986"/>
                  <a:pt x="102059" y="163450"/>
                  <a:pt x="107789" y="173720"/>
                </a:cubicBezTo>
                <a:lnTo>
                  <a:pt x="116160" y="188751"/>
                </a:lnTo>
                <a:cubicBezTo>
                  <a:pt x="116495" y="189347"/>
                  <a:pt x="116867" y="189942"/>
                  <a:pt x="1172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ubicBezTo>
                  <a:pt x="18008" y="142801"/>
                  <a:pt x="47699" y="113109"/>
                  <a:pt x="84348" y="113109"/>
                </a:cubicBezTo>
                <a:close/>
                <a:moveTo>
                  <a:pt x="160958" y="92125"/>
                </a:moveTo>
                <a:cubicBezTo>
                  <a:pt x="160958" y="87176"/>
                  <a:pt x="164939" y="83195"/>
                  <a:pt x="169887" y="83195"/>
                </a:cubicBezTo>
                <a:lnTo>
                  <a:pt x="187747" y="83195"/>
                </a:lnTo>
                <a:cubicBezTo>
                  <a:pt x="192695" y="83195"/>
                  <a:pt x="196676" y="87176"/>
                  <a:pt x="196676" y="92125"/>
                </a:cubicBezTo>
                <a:lnTo>
                  <a:pt x="196676" y="94394"/>
                </a:lnTo>
                <a:cubicBezTo>
                  <a:pt x="196676" y="101426"/>
                  <a:pt x="205643" y="106598"/>
                  <a:pt x="211745" y="103101"/>
                </a:cubicBezTo>
                <a:lnTo>
                  <a:pt x="213606" y="102022"/>
                </a:lnTo>
                <a:cubicBezTo>
                  <a:pt x="217922" y="99529"/>
                  <a:pt x="223465" y="101054"/>
                  <a:pt x="225884" y="105408"/>
                </a:cubicBezTo>
                <a:lnTo>
                  <a:pt x="234218" y="120365"/>
                </a:lnTo>
                <a:cubicBezTo>
                  <a:pt x="236525" y="124532"/>
                  <a:pt x="235186" y="129741"/>
                  <a:pt x="231167" y="132271"/>
                </a:cubicBezTo>
                <a:lnTo>
                  <a:pt x="229419" y="133350"/>
                </a:lnTo>
                <a:cubicBezTo>
                  <a:pt x="223391" y="137108"/>
                  <a:pt x="223391" y="148196"/>
                  <a:pt x="229419" y="151991"/>
                </a:cubicBezTo>
                <a:lnTo>
                  <a:pt x="231130" y="153070"/>
                </a:lnTo>
                <a:cubicBezTo>
                  <a:pt x="235148" y="155600"/>
                  <a:pt x="236525" y="160809"/>
                  <a:pt x="234218" y="164976"/>
                </a:cubicBezTo>
                <a:lnTo>
                  <a:pt x="225847" y="180008"/>
                </a:lnTo>
                <a:cubicBezTo>
                  <a:pt x="223428" y="184361"/>
                  <a:pt x="217884" y="185924"/>
                  <a:pt x="213568" y="183393"/>
                </a:cubicBezTo>
                <a:lnTo>
                  <a:pt x="211745" y="182314"/>
                </a:lnTo>
                <a:cubicBezTo>
                  <a:pt x="205643" y="178780"/>
                  <a:pt x="196676" y="183989"/>
                  <a:pt x="196676" y="191021"/>
                </a:cubicBezTo>
                <a:lnTo>
                  <a:pt x="196676" y="193291"/>
                </a:lnTo>
                <a:cubicBezTo>
                  <a:pt x="196676" y="198239"/>
                  <a:pt x="192695" y="202220"/>
                  <a:pt x="187747" y="202220"/>
                </a:cubicBezTo>
                <a:lnTo>
                  <a:pt x="169887" y="202220"/>
                </a:lnTo>
                <a:cubicBezTo>
                  <a:pt x="164939" y="202220"/>
                  <a:pt x="160958" y="198239"/>
                  <a:pt x="160958" y="193291"/>
                </a:cubicBezTo>
                <a:lnTo>
                  <a:pt x="160958" y="191095"/>
                </a:lnTo>
                <a:cubicBezTo>
                  <a:pt x="160958" y="184026"/>
                  <a:pt x="151954" y="178817"/>
                  <a:pt x="145814" y="182352"/>
                </a:cubicBezTo>
                <a:lnTo>
                  <a:pt x="144028" y="183393"/>
                </a:lnTo>
                <a:cubicBezTo>
                  <a:pt x="139712" y="185886"/>
                  <a:pt x="134206" y="184361"/>
                  <a:pt x="131750" y="180008"/>
                </a:cubicBezTo>
                <a:lnTo>
                  <a:pt x="123341" y="164976"/>
                </a:lnTo>
                <a:cubicBezTo>
                  <a:pt x="121034" y="160809"/>
                  <a:pt x="122374" y="155563"/>
                  <a:pt x="126429" y="153033"/>
                </a:cubicBezTo>
                <a:lnTo>
                  <a:pt x="128067" y="152028"/>
                </a:lnTo>
                <a:cubicBezTo>
                  <a:pt x="134131" y="148270"/>
                  <a:pt x="134131" y="137108"/>
                  <a:pt x="128067" y="133350"/>
                </a:cubicBezTo>
                <a:lnTo>
                  <a:pt x="126392" y="132308"/>
                </a:lnTo>
                <a:cubicBezTo>
                  <a:pt x="122337" y="129778"/>
                  <a:pt x="120997" y="124532"/>
                  <a:pt x="123304" y="120365"/>
                </a:cubicBezTo>
                <a:lnTo>
                  <a:pt x="131676" y="105370"/>
                </a:lnTo>
                <a:cubicBezTo>
                  <a:pt x="134094" y="101017"/>
                  <a:pt x="139638" y="99492"/>
                  <a:pt x="143917" y="101984"/>
                </a:cubicBezTo>
                <a:lnTo>
                  <a:pt x="145703" y="103026"/>
                </a:lnTo>
                <a:cubicBezTo>
                  <a:pt x="151842" y="106561"/>
                  <a:pt x="160846" y="101352"/>
                  <a:pt x="160846" y="94283"/>
                </a:cubicBezTo>
                <a:lnTo>
                  <a:pt x="160846" y="92087"/>
                </a:lnTo>
                <a:close/>
                <a:moveTo>
                  <a:pt x="198127" y="142801"/>
                </a:moveTo>
                <a:cubicBezTo>
                  <a:pt x="198127" y="132122"/>
                  <a:pt x="189458" y="123453"/>
                  <a:pt x="178780" y="123453"/>
                </a:cubicBezTo>
                <a:cubicBezTo>
                  <a:pt x="168102" y="123453"/>
                  <a:pt x="159432" y="132122"/>
                  <a:pt x="159432" y="142801"/>
                </a:cubicBezTo>
                <a:cubicBezTo>
                  <a:pt x="159432" y="153479"/>
                  <a:pt x="168102" y="162148"/>
                  <a:pt x="178780" y="162148"/>
                </a:cubicBezTo>
                <a:cubicBezTo>
                  <a:pt x="189458" y="162148"/>
                  <a:pt x="198127" y="153479"/>
                  <a:pt x="198127" y="142801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24" name="Text 21"/>
          <p:cNvSpPr/>
          <p:nvPr/>
        </p:nvSpPr>
        <p:spPr>
          <a:xfrm>
            <a:off x="8050808" y="3523457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930158" y="3828257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user profile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607848" y="32766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7" name="Shape 24"/>
          <p:cNvSpPr/>
          <p:nvPr/>
        </p:nvSpPr>
        <p:spPr>
          <a:xfrm>
            <a:off x="10568880" y="279955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778430" y="300910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29" name="Text 26"/>
          <p:cNvSpPr/>
          <p:nvPr/>
        </p:nvSpPr>
        <p:spPr>
          <a:xfrm>
            <a:off x="10393959" y="3523457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305951" y="3828257"/>
            <a:ext cx="1133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5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clear guidance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714081" y="4150520"/>
            <a:ext cx="2759075" cy="387350"/>
          </a:xfrm>
          <a:custGeom>
            <a:avLst/>
            <a:gdLst/>
            <a:ahLst/>
            <a:cxnLst/>
            <a:rect l="l" t="t" r="r" b="b"/>
            <a:pathLst>
              <a:path w="2759075" h="387350">
                <a:moveTo>
                  <a:pt x="193675" y="0"/>
                </a:moveTo>
                <a:lnTo>
                  <a:pt x="2565400" y="0"/>
                </a:lnTo>
                <a:cubicBezTo>
                  <a:pt x="2672364" y="0"/>
                  <a:pt x="2759075" y="86711"/>
                  <a:pt x="2759075" y="193675"/>
                </a:cubicBezTo>
                <a:lnTo>
                  <a:pt x="2759075" y="193675"/>
                </a:lnTo>
                <a:cubicBezTo>
                  <a:pt x="2759075" y="300639"/>
                  <a:pt x="2672364" y="387350"/>
                  <a:pt x="2565400" y="387350"/>
                </a:cubicBezTo>
                <a:lnTo>
                  <a:pt x="193675" y="387350"/>
                </a:lnTo>
                <a:cubicBezTo>
                  <a:pt x="86711" y="387350"/>
                  <a:pt x="0" y="300639"/>
                  <a:pt x="0" y="193675"/>
                </a:cubicBezTo>
                <a:lnTo>
                  <a:pt x="0" y="193675"/>
                </a:lnTo>
                <a:cubicBezTo>
                  <a:pt x="0" y="86711"/>
                  <a:pt x="86711" y="0"/>
                  <a:pt x="193675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 w="8467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6331" y="426164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33" name="Text 30"/>
          <p:cNvSpPr/>
          <p:nvPr/>
        </p:nvSpPr>
        <p:spPr>
          <a:xfrm>
            <a:off x="4920456" y="4147345"/>
            <a:ext cx="25812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7 Seconds from scan to insight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80205" y="4962525"/>
            <a:ext cx="11426825" cy="1530350"/>
          </a:xfrm>
          <a:custGeom>
            <a:avLst/>
            <a:gdLst/>
            <a:ahLst/>
            <a:cxnLst/>
            <a:rect l="l" t="t" r="r" b="b"/>
            <a:pathLst>
              <a:path w="11426825" h="1530350">
                <a:moveTo>
                  <a:pt x="152408" y="0"/>
                </a:moveTo>
                <a:lnTo>
                  <a:pt x="11274417" y="0"/>
                </a:lnTo>
                <a:cubicBezTo>
                  <a:pt x="11358590" y="0"/>
                  <a:pt x="11426825" y="68235"/>
                  <a:pt x="11426825" y="152408"/>
                </a:cubicBezTo>
                <a:lnTo>
                  <a:pt x="11426825" y="1377942"/>
                </a:lnTo>
                <a:cubicBezTo>
                  <a:pt x="11426825" y="1462058"/>
                  <a:pt x="11358533" y="1530350"/>
                  <a:pt x="11274417" y="1530350"/>
                </a:cubicBezTo>
                <a:lnTo>
                  <a:pt x="152408" y="1530350"/>
                </a:lnTo>
                <a:cubicBezTo>
                  <a:pt x="68235" y="1530350"/>
                  <a:pt x="0" y="1462115"/>
                  <a:pt x="0" y="137794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4513" y="5137152"/>
            <a:ext cx="11106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All-in-One Integration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353741" y="54800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537097" y="565150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3383" y="71438"/>
                </a:moveTo>
                <a:cubicBezTo>
                  <a:pt x="42267" y="67680"/>
                  <a:pt x="41672" y="63661"/>
                  <a:pt x="41672" y="59531"/>
                </a:cubicBezTo>
                <a:cubicBezTo>
                  <a:pt x="41672" y="36500"/>
                  <a:pt x="60313" y="17859"/>
                  <a:pt x="83344" y="17859"/>
                </a:cubicBezTo>
                <a:cubicBezTo>
                  <a:pt x="106375" y="17859"/>
                  <a:pt x="125016" y="36500"/>
                  <a:pt x="125016" y="59531"/>
                </a:cubicBezTo>
                <a:cubicBezTo>
                  <a:pt x="125016" y="63661"/>
                  <a:pt x="124420" y="67680"/>
                  <a:pt x="123304" y="71438"/>
                </a:cubicBezTo>
                <a:lnTo>
                  <a:pt x="96887" y="71438"/>
                </a:lnTo>
                <a:lnTo>
                  <a:pt x="106040" y="54955"/>
                </a:lnTo>
                <a:cubicBezTo>
                  <a:pt x="108421" y="50639"/>
                  <a:pt x="106896" y="45207"/>
                  <a:pt x="102580" y="42825"/>
                </a:cubicBezTo>
                <a:cubicBezTo>
                  <a:pt x="98264" y="40444"/>
                  <a:pt x="92832" y="41970"/>
                  <a:pt x="90450" y="46286"/>
                </a:cubicBezTo>
                <a:lnTo>
                  <a:pt x="76460" y="71475"/>
                </a:lnTo>
                <a:lnTo>
                  <a:pt x="43421" y="71475"/>
                </a:lnTo>
                <a:close/>
                <a:moveTo>
                  <a:pt x="47625" y="11906"/>
                </a:moveTo>
                <a:lnTo>
                  <a:pt x="23812" y="11906"/>
                </a:ln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119063" y="11906"/>
                </a:lnTo>
                <a:cubicBezTo>
                  <a:pt x="109128" y="4428"/>
                  <a:pt x="96738" y="0"/>
                  <a:pt x="83344" y="0"/>
                </a:cubicBezTo>
                <a:cubicBezTo>
                  <a:pt x="69949" y="0"/>
                  <a:pt x="57559" y="4428"/>
                  <a:pt x="47625" y="11906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38" name="Text 35"/>
          <p:cNvSpPr/>
          <p:nvPr/>
        </p:nvSpPr>
        <p:spPr>
          <a:xfrm>
            <a:off x="1166416" y="6089652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BMI Calculator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368105" y="54800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525268" y="565150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41" name="Text 38"/>
          <p:cNvSpPr/>
          <p:nvPr/>
        </p:nvSpPr>
        <p:spPr>
          <a:xfrm>
            <a:off x="4168080" y="6064857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Calorie Tracker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327733" y="55017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3" name="Shape 40"/>
          <p:cNvSpPr/>
          <p:nvPr/>
        </p:nvSpPr>
        <p:spPr>
          <a:xfrm>
            <a:off x="7473156" y="567322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44" name="Text 41"/>
          <p:cNvSpPr/>
          <p:nvPr/>
        </p:nvSpPr>
        <p:spPr>
          <a:xfrm>
            <a:off x="7193558" y="60515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Allergy Shield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0245030" y="547522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7" name="Text 44"/>
          <p:cNvSpPr/>
          <p:nvPr/>
        </p:nvSpPr>
        <p:spPr>
          <a:xfrm>
            <a:off x="10142339" y="6043614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Suggestions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0142339" y="6089652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170264" y="2799557"/>
            <a:ext cx="609600" cy="591343"/>
          </a:xfrm>
          <a:prstGeom prst="ellipse">
            <a:avLst/>
          </a:prstGeom>
          <a:solidFill>
            <a:srgbClr val="FFC1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348064" y="29821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663681EA-E448-809E-ACB7-E481672D637D}"/>
              </a:ext>
            </a:extLst>
          </p:cNvPr>
          <p:cNvSpPr/>
          <p:nvPr/>
        </p:nvSpPr>
        <p:spPr>
          <a:xfrm>
            <a:off x="10376754" y="564286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7625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1E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Intelligence Meets </a:t>
            </a:r>
            <a:r>
              <a:rPr lang="en-US" sz="3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Simplicity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175" y="1613694"/>
            <a:ext cx="3702050" cy="2359025"/>
          </a:xfrm>
          <a:custGeom>
            <a:avLst/>
            <a:gdLst/>
            <a:ahLst/>
            <a:cxnLst/>
            <a:rect l="l" t="t" r="r" b="b"/>
            <a:pathLst>
              <a:path w="3702050" h="2359025">
                <a:moveTo>
                  <a:pt x="152393" y="0"/>
                </a:moveTo>
                <a:lnTo>
                  <a:pt x="3549657" y="0"/>
                </a:lnTo>
                <a:cubicBezTo>
                  <a:pt x="3633821" y="0"/>
                  <a:pt x="3702050" y="68229"/>
                  <a:pt x="3702050" y="152393"/>
                </a:cubicBezTo>
                <a:lnTo>
                  <a:pt x="3702050" y="2206632"/>
                </a:lnTo>
                <a:cubicBezTo>
                  <a:pt x="3702050" y="2290796"/>
                  <a:pt x="3633821" y="2359025"/>
                  <a:pt x="3549657" y="2359025"/>
                </a:cubicBezTo>
                <a:lnTo>
                  <a:pt x="152393" y="2359025"/>
                </a:lnTo>
                <a:cubicBezTo>
                  <a:pt x="68229" y="2359025"/>
                  <a:pt x="0" y="2290796"/>
                  <a:pt x="0" y="220663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577850" y="2482851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Food Search Bar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850" y="2825751"/>
            <a:ext cx="33813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Searching with ingredient explanation and real-time allergy alerts.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5234" y="361077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11" name="Text 9"/>
          <p:cNvSpPr/>
          <p:nvPr/>
        </p:nvSpPr>
        <p:spPr>
          <a:xfrm>
            <a:off x="820738" y="358219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7 seconds response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4975" y="1603375"/>
            <a:ext cx="3702050" cy="2359025"/>
          </a:xfrm>
          <a:custGeom>
            <a:avLst/>
            <a:gdLst/>
            <a:ahLst/>
            <a:cxnLst/>
            <a:rect l="l" t="t" r="r" b="b"/>
            <a:pathLst>
              <a:path w="3702050" h="2359025">
                <a:moveTo>
                  <a:pt x="152393" y="0"/>
                </a:moveTo>
                <a:lnTo>
                  <a:pt x="3549657" y="0"/>
                </a:lnTo>
                <a:cubicBezTo>
                  <a:pt x="3633821" y="0"/>
                  <a:pt x="3702050" y="68229"/>
                  <a:pt x="3702050" y="152393"/>
                </a:cubicBezTo>
                <a:lnTo>
                  <a:pt x="3702050" y="2206632"/>
                </a:lnTo>
                <a:cubicBezTo>
                  <a:pt x="3702050" y="2290796"/>
                  <a:pt x="3633821" y="2359025"/>
                  <a:pt x="3549657" y="2359025"/>
                </a:cubicBezTo>
                <a:lnTo>
                  <a:pt x="152393" y="2359025"/>
                </a:lnTo>
                <a:cubicBezTo>
                  <a:pt x="68229" y="2359025"/>
                  <a:pt x="0" y="2290796"/>
                  <a:pt x="0" y="220663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8650" y="17970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576763" y="19494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15" name="Text 13"/>
          <p:cNvSpPr/>
          <p:nvPr/>
        </p:nvSpPr>
        <p:spPr>
          <a:xfrm>
            <a:off x="4438650" y="2482851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BMI &amp; Calorie Tracker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8650" y="2825751"/>
            <a:ext cx="3381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tracking with user specific personalization and detailed macro breakdown.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8650" y="3544095"/>
            <a:ext cx="581025" cy="228600"/>
          </a:xfrm>
          <a:custGeom>
            <a:avLst/>
            <a:gdLst/>
            <a:ahLst/>
            <a:cxnLst/>
            <a:rect l="l" t="t" r="r" b="b"/>
            <a:pathLst>
              <a:path w="581025" h="228600">
                <a:moveTo>
                  <a:pt x="114300" y="0"/>
                </a:moveTo>
                <a:lnTo>
                  <a:pt x="466725" y="0"/>
                </a:lnTo>
                <a:cubicBezTo>
                  <a:pt x="529809" y="0"/>
                  <a:pt x="581025" y="51216"/>
                  <a:pt x="581025" y="114300"/>
                </a:cubicBezTo>
                <a:lnTo>
                  <a:pt x="581025" y="114300"/>
                </a:lnTo>
                <a:cubicBezTo>
                  <a:pt x="581025" y="177384"/>
                  <a:pt x="529809" y="228600"/>
                  <a:pt x="4667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38650" y="3544095"/>
            <a:ext cx="6381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91907" y="3544095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114300" y="0"/>
                </a:moveTo>
                <a:lnTo>
                  <a:pt x="400050" y="0"/>
                </a:lnTo>
                <a:cubicBezTo>
                  <a:pt x="463134" y="0"/>
                  <a:pt x="514350" y="51216"/>
                  <a:pt x="514350" y="114300"/>
                </a:cubicBezTo>
                <a:lnTo>
                  <a:pt x="514350" y="114300"/>
                </a:lnTo>
                <a:cubicBezTo>
                  <a:pt x="514350" y="177384"/>
                  <a:pt x="463134" y="228600"/>
                  <a:pt x="4000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91907" y="3544095"/>
            <a:ext cx="5715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Carbs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83945" y="3544095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114300" y="0"/>
                </a:moveTo>
                <a:lnTo>
                  <a:pt x="314325" y="0"/>
                </a:lnTo>
                <a:cubicBezTo>
                  <a:pt x="377409" y="0"/>
                  <a:pt x="428625" y="51216"/>
                  <a:pt x="428625" y="114300"/>
                </a:cubicBezTo>
                <a:lnTo>
                  <a:pt x="428625" y="114300"/>
                </a:lnTo>
                <a:cubicBezTo>
                  <a:pt x="428625" y="177384"/>
                  <a:pt x="377409" y="228600"/>
                  <a:pt x="3143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83945" y="3544095"/>
            <a:ext cx="4857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05775" y="1603375"/>
            <a:ext cx="3702050" cy="2359025"/>
          </a:xfrm>
          <a:custGeom>
            <a:avLst/>
            <a:gdLst/>
            <a:ahLst/>
            <a:cxnLst/>
            <a:rect l="l" t="t" r="r" b="b"/>
            <a:pathLst>
              <a:path w="3702050" h="2359025">
                <a:moveTo>
                  <a:pt x="152393" y="0"/>
                </a:moveTo>
                <a:lnTo>
                  <a:pt x="3549657" y="0"/>
                </a:lnTo>
                <a:cubicBezTo>
                  <a:pt x="3633821" y="0"/>
                  <a:pt x="3702050" y="68229"/>
                  <a:pt x="3702050" y="152393"/>
                </a:cubicBezTo>
                <a:lnTo>
                  <a:pt x="3702050" y="2206632"/>
                </a:lnTo>
                <a:cubicBezTo>
                  <a:pt x="3702050" y="2290796"/>
                  <a:pt x="3633821" y="2359025"/>
                  <a:pt x="3549657" y="2359025"/>
                </a:cubicBezTo>
                <a:lnTo>
                  <a:pt x="152393" y="2359025"/>
                </a:lnTo>
                <a:cubicBezTo>
                  <a:pt x="68229" y="2359025"/>
                  <a:pt x="0" y="2290796"/>
                  <a:pt x="0" y="2206632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9450" y="17970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8423275" y="194945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26" name="Text 24"/>
          <p:cNvSpPr/>
          <p:nvPr/>
        </p:nvSpPr>
        <p:spPr>
          <a:xfrm>
            <a:off x="8299450" y="2482851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SUGGESTIONS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9450" y="2825751"/>
            <a:ext cx="33813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meal plans with precise portions and smart alternatives for allergens.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18500" y="36107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3789" y="3177"/>
                </a:moveTo>
                <a:lnTo>
                  <a:pt x="80817" y="26149"/>
                </a:lnTo>
                <a:lnTo>
                  <a:pt x="107201" y="52533"/>
                </a:lnTo>
                <a:lnTo>
                  <a:pt x="130173" y="29561"/>
                </a:lnTo>
                <a:cubicBezTo>
                  <a:pt x="132204" y="27503"/>
                  <a:pt x="133350" y="24743"/>
                  <a:pt x="133350" y="21878"/>
                </a:cubicBezTo>
                <a:cubicBezTo>
                  <a:pt x="133350" y="19013"/>
                  <a:pt x="132204" y="16252"/>
                  <a:pt x="130173" y="14194"/>
                </a:cubicBezTo>
                <a:lnTo>
                  <a:pt x="119156" y="3177"/>
                </a:lnTo>
                <a:cubicBezTo>
                  <a:pt x="117098" y="1146"/>
                  <a:pt x="114337" y="0"/>
                  <a:pt x="111472" y="0"/>
                </a:cubicBezTo>
                <a:cubicBezTo>
                  <a:pt x="108607" y="0"/>
                  <a:pt x="105847" y="1146"/>
                  <a:pt x="103789" y="3177"/>
                </a:cubicBezTo>
                <a:close/>
                <a:moveTo>
                  <a:pt x="71988" y="34978"/>
                </a:moveTo>
                <a:lnTo>
                  <a:pt x="3177" y="103789"/>
                </a:lnTo>
                <a:cubicBezTo>
                  <a:pt x="1146" y="105847"/>
                  <a:pt x="0" y="108607"/>
                  <a:pt x="0" y="111472"/>
                </a:cubicBezTo>
                <a:cubicBezTo>
                  <a:pt x="0" y="114337"/>
                  <a:pt x="1146" y="117098"/>
                  <a:pt x="3177" y="119156"/>
                </a:cubicBezTo>
                <a:lnTo>
                  <a:pt x="14194" y="130173"/>
                </a:lnTo>
                <a:cubicBezTo>
                  <a:pt x="16252" y="132204"/>
                  <a:pt x="19013" y="133350"/>
                  <a:pt x="21878" y="133350"/>
                </a:cubicBezTo>
                <a:cubicBezTo>
                  <a:pt x="24743" y="133350"/>
                  <a:pt x="27503" y="132204"/>
                  <a:pt x="29561" y="130173"/>
                </a:cubicBezTo>
                <a:lnTo>
                  <a:pt x="98372" y="61362"/>
                </a:lnTo>
                <a:lnTo>
                  <a:pt x="71988" y="34978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8542338" y="358219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adaptation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4175" y="4125119"/>
            <a:ext cx="3702050" cy="2349500"/>
          </a:xfrm>
          <a:custGeom>
            <a:avLst/>
            <a:gdLst/>
            <a:ahLst/>
            <a:cxnLst/>
            <a:rect l="l" t="t" r="r" b="b"/>
            <a:pathLst>
              <a:path w="3702050" h="2349500">
                <a:moveTo>
                  <a:pt x="152389" y="0"/>
                </a:moveTo>
                <a:lnTo>
                  <a:pt x="3549661" y="0"/>
                </a:lnTo>
                <a:cubicBezTo>
                  <a:pt x="3633823" y="0"/>
                  <a:pt x="3702050" y="68227"/>
                  <a:pt x="3702050" y="152389"/>
                </a:cubicBezTo>
                <a:lnTo>
                  <a:pt x="3702050" y="2197111"/>
                </a:lnTo>
                <a:cubicBezTo>
                  <a:pt x="3702050" y="2281273"/>
                  <a:pt x="3633823" y="2349500"/>
                  <a:pt x="3549661" y="2349500"/>
                </a:cubicBezTo>
                <a:lnTo>
                  <a:pt x="152389" y="2349500"/>
                </a:lnTo>
                <a:cubicBezTo>
                  <a:pt x="68227" y="2349500"/>
                  <a:pt x="0" y="2281273"/>
                  <a:pt x="0" y="21971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7850" y="43187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730250" y="44711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3139" y="1295"/>
                </a:moveTo>
                <a:cubicBezTo>
                  <a:pt x="111264" y="446"/>
                  <a:pt x="109255" y="0"/>
                  <a:pt x="107156" y="0"/>
                </a:cubicBezTo>
                <a:cubicBezTo>
                  <a:pt x="105058" y="0"/>
                  <a:pt x="103049" y="446"/>
                  <a:pt x="101173" y="1295"/>
                </a:cubicBezTo>
                <a:lnTo>
                  <a:pt x="17100" y="36969"/>
                </a:lnTo>
                <a:cubicBezTo>
                  <a:pt x="7278" y="41121"/>
                  <a:pt x="-45" y="50810"/>
                  <a:pt x="0" y="62508"/>
                </a:cubicBezTo>
                <a:cubicBezTo>
                  <a:pt x="223" y="106799"/>
                  <a:pt x="18440" y="187836"/>
                  <a:pt x="95369" y="224671"/>
                </a:cubicBezTo>
                <a:cubicBezTo>
                  <a:pt x="102825" y="228243"/>
                  <a:pt x="111487" y="228243"/>
                  <a:pt x="118943" y="224671"/>
                </a:cubicBezTo>
                <a:cubicBezTo>
                  <a:pt x="195917" y="187836"/>
                  <a:pt x="214134" y="106799"/>
                  <a:pt x="214313" y="62508"/>
                </a:cubicBezTo>
                <a:cubicBezTo>
                  <a:pt x="214357" y="50810"/>
                  <a:pt x="207035" y="41121"/>
                  <a:pt x="197212" y="36969"/>
                </a:cubicBezTo>
                <a:lnTo>
                  <a:pt x="113139" y="1295"/>
                </a:lnTo>
                <a:close/>
                <a:moveTo>
                  <a:pt x="107156" y="57150"/>
                </a:moveTo>
                <a:cubicBezTo>
                  <a:pt x="113094" y="57150"/>
                  <a:pt x="117872" y="61927"/>
                  <a:pt x="117872" y="67866"/>
                </a:cubicBezTo>
                <a:cubicBezTo>
                  <a:pt x="117872" y="78090"/>
                  <a:pt x="130239" y="83225"/>
                  <a:pt x="137473" y="75992"/>
                </a:cubicBezTo>
                <a:cubicBezTo>
                  <a:pt x="141669" y="71795"/>
                  <a:pt x="148456" y="71795"/>
                  <a:pt x="152608" y="75992"/>
                </a:cubicBezTo>
                <a:cubicBezTo>
                  <a:pt x="156761" y="80189"/>
                  <a:pt x="156805" y="86975"/>
                  <a:pt x="152608" y="91127"/>
                </a:cubicBezTo>
                <a:cubicBezTo>
                  <a:pt x="145375" y="98361"/>
                  <a:pt x="150510" y="110728"/>
                  <a:pt x="160734" y="110728"/>
                </a:cubicBezTo>
                <a:cubicBezTo>
                  <a:pt x="166673" y="110728"/>
                  <a:pt x="171450" y="115506"/>
                  <a:pt x="171450" y="121444"/>
                </a:cubicBezTo>
                <a:cubicBezTo>
                  <a:pt x="171450" y="127382"/>
                  <a:pt x="166673" y="132159"/>
                  <a:pt x="160734" y="132159"/>
                </a:cubicBezTo>
                <a:cubicBezTo>
                  <a:pt x="150510" y="132159"/>
                  <a:pt x="145375" y="144527"/>
                  <a:pt x="152608" y="151760"/>
                </a:cubicBezTo>
                <a:cubicBezTo>
                  <a:pt x="156805" y="155957"/>
                  <a:pt x="156805" y="162744"/>
                  <a:pt x="152608" y="166896"/>
                </a:cubicBezTo>
                <a:cubicBezTo>
                  <a:pt x="148411" y="171048"/>
                  <a:pt x="141625" y="171093"/>
                  <a:pt x="137473" y="166896"/>
                </a:cubicBezTo>
                <a:cubicBezTo>
                  <a:pt x="130239" y="159663"/>
                  <a:pt x="117872" y="164797"/>
                  <a:pt x="117872" y="175022"/>
                </a:cubicBezTo>
                <a:cubicBezTo>
                  <a:pt x="117872" y="180960"/>
                  <a:pt x="113094" y="185737"/>
                  <a:pt x="107156" y="185737"/>
                </a:cubicBezTo>
                <a:cubicBezTo>
                  <a:pt x="101218" y="185737"/>
                  <a:pt x="96441" y="180960"/>
                  <a:pt x="96441" y="175022"/>
                </a:cubicBezTo>
                <a:cubicBezTo>
                  <a:pt x="96441" y="164797"/>
                  <a:pt x="84073" y="159663"/>
                  <a:pt x="76840" y="166896"/>
                </a:cubicBezTo>
                <a:cubicBezTo>
                  <a:pt x="72643" y="171093"/>
                  <a:pt x="65856" y="171093"/>
                  <a:pt x="61704" y="166896"/>
                </a:cubicBezTo>
                <a:cubicBezTo>
                  <a:pt x="57552" y="162699"/>
                  <a:pt x="57507" y="155912"/>
                  <a:pt x="61704" y="151760"/>
                </a:cubicBezTo>
                <a:cubicBezTo>
                  <a:pt x="68937" y="144527"/>
                  <a:pt x="63803" y="132159"/>
                  <a:pt x="53578" y="132159"/>
                </a:cubicBezTo>
                <a:cubicBezTo>
                  <a:pt x="47640" y="132159"/>
                  <a:pt x="42862" y="127382"/>
                  <a:pt x="42862" y="121444"/>
                </a:cubicBezTo>
                <a:cubicBezTo>
                  <a:pt x="42862" y="115506"/>
                  <a:pt x="47640" y="110728"/>
                  <a:pt x="53578" y="110728"/>
                </a:cubicBezTo>
                <a:cubicBezTo>
                  <a:pt x="63803" y="110728"/>
                  <a:pt x="68937" y="98361"/>
                  <a:pt x="61704" y="91127"/>
                </a:cubicBezTo>
                <a:cubicBezTo>
                  <a:pt x="57507" y="86931"/>
                  <a:pt x="57507" y="80144"/>
                  <a:pt x="61704" y="75992"/>
                </a:cubicBezTo>
                <a:cubicBezTo>
                  <a:pt x="65901" y="71839"/>
                  <a:pt x="72688" y="71795"/>
                  <a:pt x="76840" y="75992"/>
                </a:cubicBezTo>
                <a:cubicBezTo>
                  <a:pt x="84073" y="83225"/>
                  <a:pt x="96441" y="78090"/>
                  <a:pt x="96441" y="67866"/>
                </a:cubicBezTo>
                <a:cubicBezTo>
                  <a:pt x="96441" y="61927"/>
                  <a:pt x="101218" y="57150"/>
                  <a:pt x="107156" y="57150"/>
                </a:cubicBezTo>
                <a:close/>
                <a:moveTo>
                  <a:pt x="92869" y="117872"/>
                </a:moveTo>
                <a:cubicBezTo>
                  <a:pt x="98783" y="117872"/>
                  <a:pt x="103584" y="113070"/>
                  <a:pt x="103584" y="107156"/>
                </a:cubicBezTo>
                <a:cubicBezTo>
                  <a:pt x="103584" y="101242"/>
                  <a:pt x="98783" y="96441"/>
                  <a:pt x="92869" y="96441"/>
                </a:cubicBezTo>
                <a:cubicBezTo>
                  <a:pt x="86955" y="96441"/>
                  <a:pt x="82153" y="101242"/>
                  <a:pt x="82153" y="107156"/>
                </a:cubicBezTo>
                <a:cubicBezTo>
                  <a:pt x="82153" y="113070"/>
                  <a:pt x="86955" y="117872"/>
                  <a:pt x="92869" y="117872"/>
                </a:cubicBezTo>
                <a:close/>
                <a:moveTo>
                  <a:pt x="132159" y="135731"/>
                </a:moveTo>
                <a:cubicBezTo>
                  <a:pt x="132159" y="129817"/>
                  <a:pt x="127358" y="125016"/>
                  <a:pt x="121444" y="125016"/>
                </a:cubicBezTo>
                <a:cubicBezTo>
                  <a:pt x="115530" y="125016"/>
                  <a:pt x="110728" y="129817"/>
                  <a:pt x="110728" y="135731"/>
                </a:cubicBezTo>
                <a:cubicBezTo>
                  <a:pt x="110728" y="141645"/>
                  <a:pt x="115530" y="146447"/>
                  <a:pt x="121444" y="146447"/>
                </a:cubicBezTo>
                <a:cubicBezTo>
                  <a:pt x="127358" y="146447"/>
                  <a:pt x="132159" y="141645"/>
                  <a:pt x="132159" y="135731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33" name="Text 31"/>
          <p:cNvSpPr/>
          <p:nvPr/>
        </p:nvSpPr>
        <p:spPr>
          <a:xfrm>
            <a:off x="577850" y="5004595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Allergy Shield &amp; Safety Score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7850" y="5347494"/>
            <a:ext cx="3381375" cy="742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050" dirty="0">
              <a:solidFill>
                <a:srgbClr val="F5F1E8">
                  <a:alpha val="80000"/>
                </a:srgb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 with safe food recommendation.</a:t>
            </a:r>
          </a:p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Gives a Score of the food Ingredients out of 100</a:t>
            </a:r>
          </a:p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6900" y="611822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6" name="Text 34"/>
          <p:cNvSpPr/>
          <p:nvPr/>
        </p:nvSpPr>
        <p:spPr>
          <a:xfrm>
            <a:off x="820738" y="6089652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alerts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44975" y="4125119"/>
            <a:ext cx="3702050" cy="2349500"/>
          </a:xfrm>
          <a:custGeom>
            <a:avLst/>
            <a:gdLst/>
            <a:ahLst/>
            <a:cxnLst/>
            <a:rect l="l" t="t" r="r" b="b"/>
            <a:pathLst>
              <a:path w="3702050" h="2349500">
                <a:moveTo>
                  <a:pt x="152389" y="0"/>
                </a:moveTo>
                <a:lnTo>
                  <a:pt x="3549661" y="0"/>
                </a:lnTo>
                <a:cubicBezTo>
                  <a:pt x="3633823" y="0"/>
                  <a:pt x="3702050" y="68227"/>
                  <a:pt x="3702050" y="152389"/>
                </a:cubicBezTo>
                <a:lnTo>
                  <a:pt x="3702050" y="2197111"/>
                </a:lnTo>
                <a:cubicBezTo>
                  <a:pt x="3702050" y="2281273"/>
                  <a:pt x="3633823" y="2349500"/>
                  <a:pt x="3549661" y="2349500"/>
                </a:cubicBezTo>
                <a:lnTo>
                  <a:pt x="152389" y="2349500"/>
                </a:lnTo>
                <a:cubicBezTo>
                  <a:pt x="68227" y="2349500"/>
                  <a:pt x="0" y="2281273"/>
                  <a:pt x="0" y="21971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8650" y="43187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4619625" y="447119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1A2E2A"/>
          </a:solidFill>
          <a:ln/>
        </p:spPr>
      </p:sp>
      <p:sp>
        <p:nvSpPr>
          <p:cNvPr id="40" name="Text 38"/>
          <p:cNvSpPr/>
          <p:nvPr/>
        </p:nvSpPr>
        <p:spPr>
          <a:xfrm>
            <a:off x="4438650" y="5004595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</a:rPr>
              <a:t>Clarity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8650" y="5347495"/>
            <a:ext cx="3381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The app uses graphs  and points system to make it simply understood by everyone</a:t>
            </a:r>
          </a:p>
        </p:txBody>
      </p:sp>
      <p:sp>
        <p:nvSpPr>
          <p:cNvPr id="42" name="Shape 40"/>
          <p:cNvSpPr/>
          <p:nvPr/>
        </p:nvSpPr>
        <p:spPr>
          <a:xfrm>
            <a:off x="4483894" y="6108702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6855" y="89978"/>
                </a:moveTo>
                <a:cubicBezTo>
                  <a:pt x="106788" y="77688"/>
                  <a:pt x="112347" y="68413"/>
                  <a:pt x="123598" y="61581"/>
                </a:cubicBezTo>
                <a:cubicBezTo>
                  <a:pt x="117303" y="52574"/>
                  <a:pt x="107792" y="47618"/>
                  <a:pt x="95235" y="46646"/>
                </a:cubicBezTo>
                <a:cubicBezTo>
                  <a:pt x="83347" y="45709"/>
                  <a:pt x="70355" y="53578"/>
                  <a:pt x="65600" y="53578"/>
                </a:cubicBezTo>
                <a:cubicBezTo>
                  <a:pt x="60577" y="53578"/>
                  <a:pt x="49057" y="46981"/>
                  <a:pt x="40016" y="46981"/>
                </a:cubicBezTo>
                <a:cubicBezTo>
                  <a:pt x="21331" y="47283"/>
                  <a:pt x="1473" y="61883"/>
                  <a:pt x="1473" y="91585"/>
                </a:cubicBezTo>
                <a:cubicBezTo>
                  <a:pt x="1473" y="100359"/>
                  <a:pt x="3081" y="109433"/>
                  <a:pt x="6295" y="118776"/>
                </a:cubicBezTo>
                <a:cubicBezTo>
                  <a:pt x="10582" y="131065"/>
                  <a:pt x="26052" y="161203"/>
                  <a:pt x="42193" y="160701"/>
                </a:cubicBezTo>
                <a:cubicBezTo>
                  <a:pt x="50631" y="160500"/>
                  <a:pt x="56592" y="154707"/>
                  <a:pt x="67575" y="154707"/>
                </a:cubicBezTo>
                <a:cubicBezTo>
                  <a:pt x="78224" y="154707"/>
                  <a:pt x="83749" y="160701"/>
                  <a:pt x="93159" y="160701"/>
                </a:cubicBezTo>
                <a:cubicBezTo>
                  <a:pt x="109433" y="160466"/>
                  <a:pt x="123431" y="133075"/>
                  <a:pt x="127516" y="120752"/>
                </a:cubicBezTo>
                <a:cubicBezTo>
                  <a:pt x="105683" y="110471"/>
                  <a:pt x="106855" y="90614"/>
                  <a:pt x="106855" y="89978"/>
                </a:cubicBezTo>
                <a:close/>
                <a:moveTo>
                  <a:pt x="87902" y="34993"/>
                </a:moveTo>
                <a:cubicBezTo>
                  <a:pt x="97043" y="24144"/>
                  <a:pt x="96206" y="14265"/>
                  <a:pt x="95938" y="10716"/>
                </a:cubicBezTo>
                <a:cubicBezTo>
                  <a:pt x="87868" y="11184"/>
                  <a:pt x="78525" y="16207"/>
                  <a:pt x="73201" y="22402"/>
                </a:cubicBezTo>
                <a:cubicBezTo>
                  <a:pt x="67341" y="29033"/>
                  <a:pt x="63892" y="37237"/>
                  <a:pt x="64629" y="46479"/>
                </a:cubicBezTo>
                <a:cubicBezTo>
                  <a:pt x="73369" y="47149"/>
                  <a:pt x="81338" y="42662"/>
                  <a:pt x="87902" y="34993"/>
                </a:cubicBezTo>
                <a:close/>
              </a:path>
            </a:pathLst>
          </a:custGeom>
          <a:solidFill>
            <a:srgbClr val="F5F1E8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42259" y="610870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810" y="85022"/>
                </a:moveTo>
                <a:cubicBezTo>
                  <a:pt x="143681" y="85022"/>
                  <a:pt x="146334" y="86554"/>
                  <a:pt x="147770" y="89040"/>
                </a:cubicBezTo>
                <a:cubicBezTo>
                  <a:pt x="149206" y="91527"/>
                  <a:pt x="149206" y="94590"/>
                  <a:pt x="147770" y="97077"/>
                </a:cubicBezTo>
                <a:cubicBezTo>
                  <a:pt x="146334" y="99563"/>
                  <a:pt x="143681" y="101095"/>
                  <a:pt x="140810" y="101095"/>
                </a:cubicBezTo>
                <a:cubicBezTo>
                  <a:pt x="136374" y="101095"/>
                  <a:pt x="132773" y="97494"/>
                  <a:pt x="132773" y="93059"/>
                </a:cubicBezTo>
                <a:cubicBezTo>
                  <a:pt x="132773" y="88623"/>
                  <a:pt x="136374" y="85022"/>
                  <a:pt x="140810" y="85022"/>
                </a:cubicBezTo>
                <a:close/>
                <a:moveTo>
                  <a:pt x="52038" y="85022"/>
                </a:moveTo>
                <a:cubicBezTo>
                  <a:pt x="54909" y="85022"/>
                  <a:pt x="57562" y="86554"/>
                  <a:pt x="58998" y="89040"/>
                </a:cubicBezTo>
                <a:cubicBezTo>
                  <a:pt x="60433" y="91527"/>
                  <a:pt x="60433" y="94590"/>
                  <a:pt x="58998" y="97077"/>
                </a:cubicBezTo>
                <a:cubicBezTo>
                  <a:pt x="57562" y="99563"/>
                  <a:pt x="54909" y="101095"/>
                  <a:pt x="52038" y="101095"/>
                </a:cubicBezTo>
                <a:cubicBezTo>
                  <a:pt x="47602" y="101095"/>
                  <a:pt x="44001" y="97494"/>
                  <a:pt x="44001" y="93059"/>
                </a:cubicBezTo>
                <a:cubicBezTo>
                  <a:pt x="44001" y="88623"/>
                  <a:pt x="47602" y="85022"/>
                  <a:pt x="52038" y="85022"/>
                </a:cubicBezTo>
                <a:close/>
                <a:moveTo>
                  <a:pt x="143690" y="52707"/>
                </a:moveTo>
                <a:lnTo>
                  <a:pt x="159730" y="24914"/>
                </a:lnTo>
                <a:cubicBezTo>
                  <a:pt x="159998" y="24545"/>
                  <a:pt x="160165" y="24110"/>
                  <a:pt x="160232" y="23641"/>
                </a:cubicBezTo>
                <a:cubicBezTo>
                  <a:pt x="160299" y="23173"/>
                  <a:pt x="160299" y="22737"/>
                  <a:pt x="160199" y="22268"/>
                </a:cubicBezTo>
                <a:cubicBezTo>
                  <a:pt x="160098" y="21800"/>
                  <a:pt x="159897" y="21398"/>
                  <a:pt x="159629" y="21029"/>
                </a:cubicBezTo>
                <a:cubicBezTo>
                  <a:pt x="159361" y="20661"/>
                  <a:pt x="159027" y="20360"/>
                  <a:pt x="158625" y="20125"/>
                </a:cubicBezTo>
                <a:cubicBezTo>
                  <a:pt x="158223" y="19891"/>
                  <a:pt x="157788" y="19757"/>
                  <a:pt x="157319" y="19690"/>
                </a:cubicBezTo>
                <a:cubicBezTo>
                  <a:pt x="156850" y="19623"/>
                  <a:pt x="156415" y="19690"/>
                  <a:pt x="155979" y="19824"/>
                </a:cubicBezTo>
                <a:cubicBezTo>
                  <a:pt x="155544" y="19958"/>
                  <a:pt x="155142" y="20192"/>
                  <a:pt x="154774" y="20460"/>
                </a:cubicBezTo>
                <a:cubicBezTo>
                  <a:pt x="154405" y="20728"/>
                  <a:pt x="154138" y="21130"/>
                  <a:pt x="153937" y="21532"/>
                </a:cubicBezTo>
                <a:lnTo>
                  <a:pt x="137696" y="49694"/>
                </a:lnTo>
                <a:cubicBezTo>
                  <a:pt x="124703" y="43867"/>
                  <a:pt x="110639" y="40853"/>
                  <a:pt x="96407" y="40853"/>
                </a:cubicBezTo>
                <a:cubicBezTo>
                  <a:pt x="82175" y="40853"/>
                  <a:pt x="68111" y="43867"/>
                  <a:pt x="55118" y="49694"/>
                </a:cubicBezTo>
                <a:lnTo>
                  <a:pt x="38911" y="21565"/>
                </a:lnTo>
                <a:cubicBezTo>
                  <a:pt x="38710" y="21163"/>
                  <a:pt x="38409" y="20795"/>
                  <a:pt x="38074" y="20494"/>
                </a:cubicBezTo>
                <a:cubicBezTo>
                  <a:pt x="37739" y="20192"/>
                  <a:pt x="37304" y="19991"/>
                  <a:pt x="36868" y="19857"/>
                </a:cubicBezTo>
                <a:cubicBezTo>
                  <a:pt x="36433" y="19723"/>
                  <a:pt x="35964" y="19690"/>
                  <a:pt x="35529" y="19723"/>
                </a:cubicBezTo>
                <a:cubicBezTo>
                  <a:pt x="35094" y="19757"/>
                  <a:pt x="34625" y="19924"/>
                  <a:pt x="34223" y="20159"/>
                </a:cubicBezTo>
                <a:cubicBezTo>
                  <a:pt x="33821" y="20393"/>
                  <a:pt x="33486" y="20695"/>
                  <a:pt x="33218" y="21063"/>
                </a:cubicBezTo>
                <a:cubicBezTo>
                  <a:pt x="32951" y="21431"/>
                  <a:pt x="32750" y="21867"/>
                  <a:pt x="32649" y="22302"/>
                </a:cubicBezTo>
                <a:cubicBezTo>
                  <a:pt x="32549" y="22737"/>
                  <a:pt x="32549" y="23206"/>
                  <a:pt x="32616" y="23675"/>
                </a:cubicBezTo>
                <a:cubicBezTo>
                  <a:pt x="32683" y="24144"/>
                  <a:pt x="32884" y="24545"/>
                  <a:pt x="33118" y="24947"/>
                </a:cubicBezTo>
                <a:lnTo>
                  <a:pt x="49158" y="52741"/>
                </a:lnTo>
                <a:cubicBezTo>
                  <a:pt x="21599" y="67709"/>
                  <a:pt x="2746" y="95603"/>
                  <a:pt x="0" y="128588"/>
                </a:cubicBezTo>
                <a:lnTo>
                  <a:pt x="192881" y="128588"/>
                </a:lnTo>
                <a:cubicBezTo>
                  <a:pt x="190135" y="95603"/>
                  <a:pt x="171283" y="67709"/>
                  <a:pt x="143690" y="52707"/>
                </a:cubicBezTo>
                <a:close/>
              </a:path>
            </a:pathLst>
          </a:custGeom>
          <a:solidFill>
            <a:srgbClr val="F5F1E8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43488" y="610870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F5F1E8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05775" y="4125119"/>
            <a:ext cx="3702050" cy="2349500"/>
          </a:xfrm>
          <a:custGeom>
            <a:avLst/>
            <a:gdLst/>
            <a:ahLst/>
            <a:cxnLst/>
            <a:rect l="l" t="t" r="r" b="b"/>
            <a:pathLst>
              <a:path w="3702050" h="2349500">
                <a:moveTo>
                  <a:pt x="152389" y="0"/>
                </a:moveTo>
                <a:lnTo>
                  <a:pt x="3549661" y="0"/>
                </a:lnTo>
                <a:cubicBezTo>
                  <a:pt x="3633823" y="0"/>
                  <a:pt x="3702050" y="68227"/>
                  <a:pt x="3702050" y="152389"/>
                </a:cubicBezTo>
                <a:lnTo>
                  <a:pt x="3702050" y="2197111"/>
                </a:lnTo>
                <a:cubicBezTo>
                  <a:pt x="3702050" y="2281273"/>
                  <a:pt x="3633823" y="2349500"/>
                  <a:pt x="3549661" y="2349500"/>
                </a:cubicBezTo>
                <a:lnTo>
                  <a:pt x="152389" y="2349500"/>
                </a:lnTo>
                <a:cubicBezTo>
                  <a:pt x="68227" y="2349500"/>
                  <a:pt x="0" y="2281273"/>
                  <a:pt x="0" y="21971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574">
                  <a:alpha val="20000"/>
                </a:srgbClr>
              </a:gs>
              <a:gs pos="100000">
                <a:srgbClr val="E8C547">
                  <a:alpha val="20000"/>
                </a:srgbClr>
              </a:gs>
            </a:gsLst>
            <a:lin ang="2700000" scaled="1"/>
          </a:gradFill>
          <a:ln w="8467">
            <a:solidFill>
              <a:srgbClr val="D4A574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66113" y="4385072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kern="0" spc="5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99450" y="4785122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Accuracy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92880" y="4727972"/>
            <a:ext cx="43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C54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99450" y="5147072"/>
            <a:ext cx="3314700" cy="76200"/>
          </a:xfrm>
          <a:custGeom>
            <a:avLst/>
            <a:gdLst/>
            <a:ahLst/>
            <a:cxnLst/>
            <a:rect l="l" t="t" r="r" b="b"/>
            <a:pathLst>
              <a:path w="3314700" h="76200">
                <a:moveTo>
                  <a:pt x="38100" y="0"/>
                </a:moveTo>
                <a:lnTo>
                  <a:pt x="3276600" y="0"/>
                </a:lnTo>
                <a:cubicBezTo>
                  <a:pt x="3297628" y="0"/>
                  <a:pt x="3314700" y="17072"/>
                  <a:pt x="3314700" y="38100"/>
                </a:cubicBezTo>
                <a:lnTo>
                  <a:pt x="3314700" y="38100"/>
                </a:lnTo>
                <a:cubicBezTo>
                  <a:pt x="3314700" y="59128"/>
                  <a:pt x="3297628" y="76200"/>
                  <a:pt x="3276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6F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99450" y="5147072"/>
            <a:ext cx="3019425" cy="76200"/>
          </a:xfrm>
          <a:custGeom>
            <a:avLst/>
            <a:gdLst/>
            <a:ahLst/>
            <a:cxnLst/>
            <a:rect l="l" t="t" r="r" b="b"/>
            <a:pathLst>
              <a:path w="3019425" h="76200">
                <a:moveTo>
                  <a:pt x="38100" y="0"/>
                </a:moveTo>
                <a:lnTo>
                  <a:pt x="2981325" y="0"/>
                </a:lnTo>
                <a:cubicBezTo>
                  <a:pt x="3002353" y="0"/>
                  <a:pt x="3019425" y="17072"/>
                  <a:pt x="3019425" y="38100"/>
                </a:cubicBezTo>
                <a:lnTo>
                  <a:pt x="3019425" y="38100"/>
                </a:lnTo>
                <a:cubicBezTo>
                  <a:pt x="3019425" y="59128"/>
                  <a:pt x="3002353" y="76200"/>
                  <a:pt x="2981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8299450" y="5470922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04873" y="5413772"/>
            <a:ext cx="523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10K+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99450" y="5966222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331773" y="5909072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C54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&lt;7s</a:t>
            </a:r>
            <a:endParaRPr lang="en-US" sz="1600" dirty="0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FEF7BEEE-B2A8-5AB2-BA44-4EF6765F6E51}"/>
              </a:ext>
            </a:extLst>
          </p:cNvPr>
          <p:cNvSpPr/>
          <p:nvPr/>
        </p:nvSpPr>
        <p:spPr>
          <a:xfrm>
            <a:off x="667003" y="183685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/>
              </a:gs>
              <a:gs pos="100000">
                <a:srgbClr val="D4A574"/>
              </a:gs>
            </a:gsLst>
            <a:lin ang="2700000" scaled="1"/>
          </a:gradFill>
          <a:ln/>
        </p:spPr>
      </p:sp>
      <p:pic>
        <p:nvPicPr>
          <p:cNvPr id="59" name="Graphic 58" descr="Magnifying glass with solid fill">
            <a:extLst>
              <a:ext uri="{FF2B5EF4-FFF2-40B4-BE49-F238E27FC236}">
                <a16:creationId xmlns:a16="http://schemas.microsoft.com/office/drawing/2014/main" id="{1E40FE2B-5AFA-CAB6-0689-819E99B9D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408" y="1934367"/>
            <a:ext cx="382590" cy="382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00f83c6981a837adc32aaba55152f23d0b25867c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2A">
                  <a:alpha val="98000"/>
                </a:srgbClr>
              </a:gs>
              <a:gs pos="50000">
                <a:srgbClr val="1A2E2A">
                  <a:alpha val="95000"/>
                </a:srgbClr>
              </a:gs>
              <a:gs pos="100000">
                <a:srgbClr val="4A7C6F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762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763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1E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Competitive Edge &amp; </a:t>
            </a:r>
            <a:r>
              <a:rPr lang="en-US" sz="3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675" y="1474788"/>
            <a:ext cx="5889625" cy="4873625"/>
          </a:xfrm>
          <a:custGeom>
            <a:avLst/>
            <a:gdLst/>
            <a:ahLst/>
            <a:cxnLst/>
            <a:rect l="l" t="t" r="r" b="b"/>
            <a:pathLst>
              <a:path w="5889625" h="4873625">
                <a:moveTo>
                  <a:pt x="159807" y="0"/>
                </a:moveTo>
                <a:lnTo>
                  <a:pt x="5729818" y="0"/>
                </a:lnTo>
                <a:cubicBezTo>
                  <a:pt x="5818077" y="0"/>
                  <a:pt x="5889625" y="68231"/>
                  <a:pt x="5889625" y="152398"/>
                </a:cubicBezTo>
                <a:lnTo>
                  <a:pt x="5889625" y="4721227"/>
                </a:lnTo>
                <a:cubicBezTo>
                  <a:pt x="5889625" y="4805394"/>
                  <a:pt x="5818077" y="4873625"/>
                  <a:pt x="5729818" y="4873625"/>
                </a:cubicBezTo>
                <a:lnTo>
                  <a:pt x="159807" y="4873625"/>
                </a:lnTo>
                <a:cubicBezTo>
                  <a:pt x="71548" y="4873625"/>
                  <a:pt x="0" y="4805394"/>
                  <a:pt x="0" y="4721227"/>
                </a:cubicBezTo>
                <a:lnTo>
                  <a:pt x="0" y="152398"/>
                </a:lnTo>
                <a:cubicBezTo>
                  <a:pt x="0" y="68287"/>
                  <a:pt x="71607" y="0"/>
                  <a:pt x="159807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6425" y="18351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9" name="Text 6"/>
          <p:cNvSpPr/>
          <p:nvPr/>
        </p:nvSpPr>
        <p:spPr>
          <a:xfrm>
            <a:off x="863600" y="1797051"/>
            <a:ext cx="505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All-in-One Solution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852926"/>
              </p:ext>
            </p:extLst>
          </p:nvPr>
        </p:nvGraphicFramePr>
        <p:xfrm>
          <a:off x="400050" y="2559051"/>
          <a:ext cx="5829300" cy="2124078"/>
        </p:xfrm>
        <a:graphic>
          <a:graphicData uri="http://schemas.openxmlformats.org/drawingml/2006/table">
            <a:tbl>
              <a:tblPr/>
              <a:tblGrid>
                <a:gridCol w="1981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01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D4A57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Competitor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57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OCR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57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57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Personalized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D4A57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Real-time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5F1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Yuka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1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5F1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Fooducate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5F1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 Food Facts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5F1E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Nourish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8C5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PurePlate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54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54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54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54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E8C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54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77850" y="5594352"/>
            <a:ext cx="1666875" cy="685800"/>
          </a:xfrm>
          <a:custGeom>
            <a:avLst/>
            <a:gdLst/>
            <a:ahLst/>
            <a:cxnLst/>
            <a:rect l="l" t="t" r="r" b="b"/>
            <a:pathLst>
              <a:path w="1666875" h="685800">
                <a:moveTo>
                  <a:pt x="76199" y="0"/>
                </a:moveTo>
                <a:lnTo>
                  <a:pt x="1590676" y="0"/>
                </a:lnTo>
                <a:cubicBezTo>
                  <a:pt x="1632759" y="0"/>
                  <a:pt x="1666875" y="34116"/>
                  <a:pt x="1666875" y="76199"/>
                </a:cubicBezTo>
                <a:lnTo>
                  <a:pt x="1666875" y="609601"/>
                </a:lnTo>
                <a:cubicBezTo>
                  <a:pt x="1666875" y="651656"/>
                  <a:pt x="1632731" y="685800"/>
                  <a:pt x="15906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35000" y="5708652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C54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&lt;7s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3575" y="6013452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357934" y="5594352"/>
            <a:ext cx="1666875" cy="685800"/>
          </a:xfrm>
          <a:custGeom>
            <a:avLst/>
            <a:gdLst/>
            <a:ahLst/>
            <a:cxnLst/>
            <a:rect l="l" t="t" r="r" b="b"/>
            <a:pathLst>
              <a:path w="1666875" h="685800">
                <a:moveTo>
                  <a:pt x="76199" y="0"/>
                </a:moveTo>
                <a:lnTo>
                  <a:pt x="1590676" y="0"/>
                </a:lnTo>
                <a:cubicBezTo>
                  <a:pt x="1632759" y="0"/>
                  <a:pt x="1666875" y="34116"/>
                  <a:pt x="1666875" y="76199"/>
                </a:cubicBezTo>
                <a:lnTo>
                  <a:pt x="1666875" y="609601"/>
                </a:lnTo>
                <a:cubicBezTo>
                  <a:pt x="1666875" y="651656"/>
                  <a:pt x="1632731" y="685800"/>
                  <a:pt x="15906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415084" y="5708652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443659" y="6013452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138017" y="5594352"/>
            <a:ext cx="1666875" cy="685800"/>
          </a:xfrm>
          <a:custGeom>
            <a:avLst/>
            <a:gdLst/>
            <a:ahLst/>
            <a:cxnLst/>
            <a:rect l="l" t="t" r="r" b="b"/>
            <a:pathLst>
              <a:path w="1666875" h="685800">
                <a:moveTo>
                  <a:pt x="76199" y="0"/>
                </a:moveTo>
                <a:lnTo>
                  <a:pt x="1590676" y="0"/>
                </a:lnTo>
                <a:cubicBezTo>
                  <a:pt x="1632759" y="0"/>
                  <a:pt x="1666875" y="34116"/>
                  <a:pt x="1666875" y="76199"/>
                </a:cubicBezTo>
                <a:lnTo>
                  <a:pt x="1666875" y="609601"/>
                </a:lnTo>
                <a:cubicBezTo>
                  <a:pt x="1666875" y="651656"/>
                  <a:pt x="1632731" y="685800"/>
                  <a:pt x="15906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195167" y="5708652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C54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10K+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223742" y="6013452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Ingredients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194425" y="1603375"/>
            <a:ext cx="5616575" cy="4873625"/>
          </a:xfrm>
          <a:custGeom>
            <a:avLst/>
            <a:gdLst/>
            <a:ahLst/>
            <a:cxnLst/>
            <a:rect l="l" t="t" r="r" b="b"/>
            <a:pathLst>
              <a:path w="5616575" h="4873625">
                <a:moveTo>
                  <a:pt x="152398" y="0"/>
                </a:moveTo>
                <a:lnTo>
                  <a:pt x="5464177" y="0"/>
                </a:lnTo>
                <a:cubicBezTo>
                  <a:pt x="5548344" y="0"/>
                  <a:pt x="5616575" y="68231"/>
                  <a:pt x="5616575" y="152398"/>
                </a:cubicBezTo>
                <a:lnTo>
                  <a:pt x="5616575" y="4721227"/>
                </a:lnTo>
                <a:cubicBezTo>
                  <a:pt x="5616575" y="4805394"/>
                  <a:pt x="5548344" y="4873625"/>
                  <a:pt x="5464177" y="4873625"/>
                </a:cubicBezTo>
                <a:lnTo>
                  <a:pt x="152398" y="4873625"/>
                </a:lnTo>
                <a:cubicBezTo>
                  <a:pt x="68231" y="4873625"/>
                  <a:pt x="0" y="4805394"/>
                  <a:pt x="0" y="47212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2388" y="183515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2" name="Text 18"/>
          <p:cNvSpPr/>
          <p:nvPr/>
        </p:nvSpPr>
        <p:spPr>
          <a:xfrm>
            <a:off x="6673850" y="1797051"/>
            <a:ext cx="505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B2B Network Model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388100" y="2254251"/>
            <a:ext cx="5229225" cy="571500"/>
          </a:xfrm>
          <a:custGeom>
            <a:avLst/>
            <a:gdLst/>
            <a:ahLst/>
            <a:cxnLst/>
            <a:rect l="l" t="t" r="r" b="b"/>
            <a:pathLst>
              <a:path w="5229225" h="571500">
                <a:moveTo>
                  <a:pt x="76198" y="0"/>
                </a:moveTo>
                <a:lnTo>
                  <a:pt x="5153027" y="0"/>
                </a:lnTo>
                <a:cubicBezTo>
                  <a:pt x="5195110" y="0"/>
                  <a:pt x="5229225" y="34115"/>
                  <a:pt x="5229225" y="76198"/>
                </a:cubicBezTo>
                <a:lnTo>
                  <a:pt x="5229225" y="495302"/>
                </a:lnTo>
                <a:cubicBezTo>
                  <a:pt x="5229225" y="537385"/>
                  <a:pt x="5195110" y="571500"/>
                  <a:pt x="5153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E2A">
              <a:alpha val="4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6502400" y="23685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25" name="Text 21"/>
          <p:cNvSpPr/>
          <p:nvPr/>
        </p:nvSpPr>
        <p:spPr>
          <a:xfrm>
            <a:off x="6464300" y="236855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2E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921500" y="2368551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Memberships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921500" y="2559051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revenue from health professionals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388100" y="2940051"/>
            <a:ext cx="5229225" cy="571500"/>
          </a:xfrm>
          <a:custGeom>
            <a:avLst/>
            <a:gdLst/>
            <a:ahLst/>
            <a:cxnLst/>
            <a:rect l="l" t="t" r="r" b="b"/>
            <a:pathLst>
              <a:path w="5229225" h="571500">
                <a:moveTo>
                  <a:pt x="76198" y="0"/>
                </a:moveTo>
                <a:lnTo>
                  <a:pt x="5153027" y="0"/>
                </a:lnTo>
                <a:cubicBezTo>
                  <a:pt x="5195110" y="0"/>
                  <a:pt x="5229225" y="34115"/>
                  <a:pt x="5229225" y="76198"/>
                </a:cubicBezTo>
                <a:lnTo>
                  <a:pt x="5229225" y="495302"/>
                </a:lnTo>
                <a:cubicBezTo>
                  <a:pt x="5229225" y="537385"/>
                  <a:pt x="5195110" y="571500"/>
                  <a:pt x="5153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E2A">
              <a:alpha val="40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6502400" y="30543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30" name="Text 26"/>
          <p:cNvSpPr/>
          <p:nvPr/>
        </p:nvSpPr>
        <p:spPr>
          <a:xfrm>
            <a:off x="6464300" y="305435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2E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921500" y="3054351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Fundings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921500" y="3244851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health grants &amp; partnerships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388100" y="3625851"/>
            <a:ext cx="5229225" cy="571500"/>
          </a:xfrm>
          <a:custGeom>
            <a:avLst/>
            <a:gdLst/>
            <a:ahLst/>
            <a:cxnLst/>
            <a:rect l="l" t="t" r="r" b="b"/>
            <a:pathLst>
              <a:path w="5229225" h="571500">
                <a:moveTo>
                  <a:pt x="76198" y="0"/>
                </a:moveTo>
                <a:lnTo>
                  <a:pt x="5153027" y="0"/>
                </a:lnTo>
                <a:cubicBezTo>
                  <a:pt x="5195110" y="0"/>
                  <a:pt x="5229225" y="34115"/>
                  <a:pt x="5229225" y="76198"/>
                </a:cubicBezTo>
                <a:lnTo>
                  <a:pt x="5229225" y="495302"/>
                </a:lnTo>
                <a:cubicBezTo>
                  <a:pt x="5229225" y="537385"/>
                  <a:pt x="5195110" y="571500"/>
                  <a:pt x="5153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E2A">
              <a:alpha val="40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6502400" y="37401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35" name="Text 31"/>
          <p:cNvSpPr/>
          <p:nvPr/>
        </p:nvSpPr>
        <p:spPr>
          <a:xfrm>
            <a:off x="6464300" y="374015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2E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921500" y="3740151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Pitching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921500" y="3930651"/>
            <a:ext cx="1990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Showcasing health services &amp; products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6388100" y="4311651"/>
            <a:ext cx="5229225" cy="571500"/>
          </a:xfrm>
          <a:custGeom>
            <a:avLst/>
            <a:gdLst/>
            <a:ahLst/>
            <a:cxnLst/>
            <a:rect l="l" t="t" r="r" b="b"/>
            <a:pathLst>
              <a:path w="5229225" h="571500">
                <a:moveTo>
                  <a:pt x="76198" y="0"/>
                </a:moveTo>
                <a:lnTo>
                  <a:pt x="5153027" y="0"/>
                </a:lnTo>
                <a:cubicBezTo>
                  <a:pt x="5195110" y="0"/>
                  <a:pt x="5229225" y="34115"/>
                  <a:pt x="5229225" y="76198"/>
                </a:cubicBezTo>
                <a:lnTo>
                  <a:pt x="5229225" y="495302"/>
                </a:lnTo>
                <a:cubicBezTo>
                  <a:pt x="5229225" y="537385"/>
                  <a:pt x="5195110" y="571500"/>
                  <a:pt x="5153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2E2A">
              <a:alpha val="40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6502400" y="442595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40" name="Text 36"/>
          <p:cNvSpPr/>
          <p:nvPr/>
        </p:nvSpPr>
        <p:spPr>
          <a:xfrm>
            <a:off x="6464300" y="442595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2E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6921500" y="4425951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Advertising Revenue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6921500" y="4616451"/>
            <a:ext cx="156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ads for health brands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6391275" y="5584825"/>
            <a:ext cx="5216525" cy="692150"/>
          </a:xfrm>
          <a:custGeom>
            <a:avLst/>
            <a:gdLst/>
            <a:ahLst/>
            <a:cxnLst/>
            <a:rect l="l" t="t" r="r" b="b"/>
            <a:pathLst>
              <a:path w="5216525" h="692150">
                <a:moveTo>
                  <a:pt x="76199" y="0"/>
                </a:moveTo>
                <a:lnTo>
                  <a:pt x="5140326" y="0"/>
                </a:lnTo>
                <a:cubicBezTo>
                  <a:pt x="5182410" y="0"/>
                  <a:pt x="5216525" y="34115"/>
                  <a:pt x="5216525" y="76199"/>
                </a:cubicBezTo>
                <a:lnTo>
                  <a:pt x="5216525" y="615951"/>
                </a:lnTo>
                <a:cubicBezTo>
                  <a:pt x="5216525" y="658035"/>
                  <a:pt x="5182410" y="692150"/>
                  <a:pt x="5140326" y="692150"/>
                </a:cubicBezTo>
                <a:lnTo>
                  <a:pt x="76199" y="692150"/>
                </a:lnTo>
                <a:cubicBezTo>
                  <a:pt x="34115" y="692150"/>
                  <a:pt x="0" y="658035"/>
                  <a:pt x="0" y="615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 w="8467">
            <a:solidFill>
              <a:srgbClr val="D4A574">
                <a:alpha val="40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508750" y="5702301"/>
            <a:ext cx="503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Markets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6508750" y="5930901"/>
            <a:ext cx="1323975" cy="228600"/>
          </a:xfrm>
          <a:custGeom>
            <a:avLst/>
            <a:gdLst/>
            <a:ahLst/>
            <a:cxnLst/>
            <a:rect l="l" t="t" r="r" b="b"/>
            <a:pathLst>
              <a:path w="1323975" h="228600">
                <a:moveTo>
                  <a:pt x="114300" y="0"/>
                </a:moveTo>
                <a:lnTo>
                  <a:pt x="1209675" y="0"/>
                </a:lnTo>
                <a:cubicBezTo>
                  <a:pt x="1272759" y="0"/>
                  <a:pt x="1323975" y="51216"/>
                  <a:pt x="1323975" y="114300"/>
                </a:cubicBezTo>
                <a:lnTo>
                  <a:pt x="1323975" y="114300"/>
                </a:lnTo>
                <a:cubicBezTo>
                  <a:pt x="1323975" y="177384"/>
                  <a:pt x="1272759" y="228600"/>
                  <a:pt x="12096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6508750" y="5930901"/>
            <a:ext cx="138112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Schools &amp; Universities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7911604" y="5930901"/>
            <a:ext cx="1219200" cy="228600"/>
          </a:xfrm>
          <a:custGeom>
            <a:avLst/>
            <a:gdLst/>
            <a:ahLst/>
            <a:cxnLst/>
            <a:rect l="l" t="t" r="r" b="b"/>
            <a:pathLst>
              <a:path w="1219200" h="228600">
                <a:moveTo>
                  <a:pt x="114300" y="0"/>
                </a:moveTo>
                <a:lnTo>
                  <a:pt x="1104900" y="0"/>
                </a:lnTo>
                <a:cubicBezTo>
                  <a:pt x="1167984" y="0"/>
                  <a:pt x="1219200" y="51216"/>
                  <a:pt x="1219200" y="114300"/>
                </a:cubicBezTo>
                <a:lnTo>
                  <a:pt x="1219200" y="114300"/>
                </a:lnTo>
                <a:cubicBezTo>
                  <a:pt x="1219200" y="177384"/>
                  <a:pt x="1167984" y="228600"/>
                  <a:pt x="11049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7911604" y="5930901"/>
            <a:ext cx="12763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Wellness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9204424" y="5930901"/>
            <a:ext cx="1257300" cy="228600"/>
          </a:xfrm>
          <a:custGeom>
            <a:avLst/>
            <a:gdLst/>
            <a:ahLst/>
            <a:cxnLst/>
            <a:rect l="l" t="t" r="r" b="b"/>
            <a:pathLst>
              <a:path w="1257300" h="228600">
                <a:moveTo>
                  <a:pt x="114300" y="0"/>
                </a:moveTo>
                <a:lnTo>
                  <a:pt x="1143000" y="0"/>
                </a:lnTo>
                <a:cubicBezTo>
                  <a:pt x="1206084" y="0"/>
                  <a:pt x="1257300" y="51216"/>
                  <a:pt x="1257300" y="114300"/>
                </a:cubicBezTo>
                <a:lnTo>
                  <a:pt x="1257300" y="114300"/>
                </a:lnTo>
                <a:cubicBezTo>
                  <a:pt x="1257300" y="177384"/>
                  <a:pt x="1206084" y="228600"/>
                  <a:pt x="11430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50" name="Text 46"/>
          <p:cNvSpPr/>
          <p:nvPr/>
        </p:nvSpPr>
        <p:spPr>
          <a:xfrm>
            <a:off x="9204424" y="5930901"/>
            <a:ext cx="13144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Providers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3138488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52" name="Shape 48"/>
          <p:cNvSpPr/>
          <p:nvPr/>
        </p:nvSpPr>
        <p:spPr>
          <a:xfrm>
            <a:off x="3138488" y="29400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53" name="Shape 49"/>
          <p:cNvSpPr/>
          <p:nvPr/>
        </p:nvSpPr>
        <p:spPr>
          <a:xfrm>
            <a:off x="3138488" y="36020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54" name="Shape 50"/>
          <p:cNvSpPr/>
          <p:nvPr/>
        </p:nvSpPr>
        <p:spPr>
          <a:xfrm>
            <a:off x="3138488" y="39116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55" name="Shape 51"/>
          <p:cNvSpPr/>
          <p:nvPr/>
        </p:nvSpPr>
        <p:spPr>
          <a:xfrm>
            <a:off x="2564134" y="43116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56" name="Shape 52"/>
          <p:cNvSpPr/>
          <p:nvPr/>
        </p:nvSpPr>
        <p:spPr>
          <a:xfrm>
            <a:off x="3138488" y="43116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57" name="Shape 53"/>
          <p:cNvSpPr/>
          <p:nvPr/>
        </p:nvSpPr>
        <p:spPr>
          <a:xfrm>
            <a:off x="4223742" y="43116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chemeClr val="bg2"/>
          </a:solidFill>
          <a:ln/>
        </p:spPr>
      </p:sp>
      <p:sp>
        <p:nvSpPr>
          <p:cNvPr id="58" name="Shape 54"/>
          <p:cNvSpPr/>
          <p:nvPr/>
        </p:nvSpPr>
        <p:spPr>
          <a:xfrm>
            <a:off x="5550892" y="43116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59" name="Shape 55"/>
          <p:cNvSpPr/>
          <p:nvPr/>
        </p:nvSpPr>
        <p:spPr>
          <a:xfrm>
            <a:off x="2564134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0" name="Shape 56"/>
          <p:cNvSpPr/>
          <p:nvPr/>
        </p:nvSpPr>
        <p:spPr>
          <a:xfrm>
            <a:off x="4223742" y="39116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1" name="Shape 57"/>
          <p:cNvSpPr/>
          <p:nvPr/>
        </p:nvSpPr>
        <p:spPr>
          <a:xfrm>
            <a:off x="2564134" y="39116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2" name="Shape 58"/>
          <p:cNvSpPr/>
          <p:nvPr/>
        </p:nvSpPr>
        <p:spPr>
          <a:xfrm>
            <a:off x="2564134" y="36020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3" name="Shape 59"/>
          <p:cNvSpPr/>
          <p:nvPr/>
        </p:nvSpPr>
        <p:spPr>
          <a:xfrm>
            <a:off x="2564134" y="29400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4" name="Shape 60"/>
          <p:cNvSpPr/>
          <p:nvPr/>
        </p:nvSpPr>
        <p:spPr>
          <a:xfrm>
            <a:off x="4223742" y="36576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5" name="Shape 61"/>
          <p:cNvSpPr/>
          <p:nvPr/>
        </p:nvSpPr>
        <p:spPr>
          <a:xfrm>
            <a:off x="4223742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6" name="Shape 62"/>
          <p:cNvSpPr/>
          <p:nvPr/>
        </p:nvSpPr>
        <p:spPr>
          <a:xfrm>
            <a:off x="4223742" y="29400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7" name="Shape 63"/>
          <p:cNvSpPr/>
          <p:nvPr/>
        </p:nvSpPr>
        <p:spPr>
          <a:xfrm>
            <a:off x="5550892" y="29400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8" name="Shape 64"/>
          <p:cNvSpPr/>
          <p:nvPr/>
        </p:nvSpPr>
        <p:spPr>
          <a:xfrm>
            <a:off x="5550892" y="4040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69" name="Shape 65"/>
          <p:cNvSpPr/>
          <p:nvPr/>
        </p:nvSpPr>
        <p:spPr>
          <a:xfrm>
            <a:off x="5550892" y="36576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70" name="Shape 66"/>
          <p:cNvSpPr/>
          <p:nvPr/>
        </p:nvSpPr>
        <p:spPr>
          <a:xfrm>
            <a:off x="5550892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118219"/>
                  <a:pt x="8108" y="111125"/>
                  <a:pt x="18143" y="111125"/>
                </a:cubicBezTo>
                <a:lnTo>
                  <a:pt x="235857" y="111125"/>
                </a:lnTo>
                <a:cubicBezTo>
                  <a:pt x="245892" y="111125"/>
                  <a:pt x="254000" y="118219"/>
                  <a:pt x="254000" y="127000"/>
                </a:cubicBezTo>
                <a:cubicBezTo>
                  <a:pt x="254000" y="135781"/>
                  <a:pt x="245892" y="142875"/>
                  <a:pt x="235857" y="142875"/>
                </a:cubicBezTo>
                <a:lnTo>
                  <a:pt x="18143" y="142875"/>
                </a:lnTo>
                <a:cubicBezTo>
                  <a:pt x="8108" y="142875"/>
                  <a:pt x="0" y="135781"/>
                  <a:pt x="0" y="127000"/>
                </a:cubicBezTo>
                <a:close/>
              </a:path>
            </a:pathLst>
          </a:custGeom>
          <a:solidFill>
            <a:schemeClr val="bg1"/>
          </a:solidFill>
          <a:ln/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haikudeck.com/39e550d5c0a89d955da4c0bf2f32de11b490ebb6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937" y="-16669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E2A">
                  <a:alpha val="95000"/>
                </a:srgbClr>
              </a:gs>
              <a:gs pos="50000">
                <a:srgbClr val="1A2E2A">
                  <a:alpha val="90000"/>
                </a:srgbClr>
              </a:gs>
              <a:gs pos="100000">
                <a:srgbClr val="4A7C6F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7625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3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763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1E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Transforming </a:t>
            </a:r>
            <a:r>
              <a:rPr lang="en-US" sz="3600" b="1" dirty="0">
                <a:solidFill>
                  <a:srgbClr val="D4A57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Global Health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175" y="1603375"/>
            <a:ext cx="7559675" cy="4130675"/>
          </a:xfrm>
          <a:custGeom>
            <a:avLst/>
            <a:gdLst/>
            <a:ahLst/>
            <a:cxnLst/>
            <a:rect l="l" t="t" r="r" b="b"/>
            <a:pathLst>
              <a:path w="7559675" h="4130675">
                <a:moveTo>
                  <a:pt x="152381" y="0"/>
                </a:moveTo>
                <a:lnTo>
                  <a:pt x="7407294" y="0"/>
                </a:lnTo>
                <a:cubicBezTo>
                  <a:pt x="7491452" y="0"/>
                  <a:pt x="7559675" y="68223"/>
                  <a:pt x="7559675" y="152381"/>
                </a:cubicBezTo>
                <a:lnTo>
                  <a:pt x="7559675" y="3978294"/>
                </a:lnTo>
                <a:cubicBezTo>
                  <a:pt x="7559675" y="4062452"/>
                  <a:pt x="7491452" y="4130675"/>
                  <a:pt x="7407294" y="4130675"/>
                </a:cubicBezTo>
                <a:lnTo>
                  <a:pt x="152381" y="4130675"/>
                </a:lnTo>
                <a:cubicBezTo>
                  <a:pt x="68279" y="4130675"/>
                  <a:pt x="0" y="4062396"/>
                  <a:pt x="0" y="3978294"/>
                </a:cubicBezTo>
                <a:lnTo>
                  <a:pt x="0" y="152381"/>
                </a:lnTo>
                <a:cubicBezTo>
                  <a:pt x="0" y="68223"/>
                  <a:pt x="68223" y="0"/>
                  <a:pt x="152381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6425" y="18351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9" name="Text 6"/>
          <p:cNvSpPr/>
          <p:nvPr/>
        </p:nvSpPr>
        <p:spPr>
          <a:xfrm>
            <a:off x="863600" y="1797051"/>
            <a:ext cx="700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Impact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850" y="2254251"/>
            <a:ext cx="3514725" cy="1571625"/>
          </a:xfrm>
          <a:custGeom>
            <a:avLst/>
            <a:gdLst/>
            <a:ahLst/>
            <a:cxnLst/>
            <a:rect l="l" t="t" r="r" b="b"/>
            <a:pathLst>
              <a:path w="3514725" h="1571625">
                <a:moveTo>
                  <a:pt x="114304" y="0"/>
                </a:moveTo>
                <a:lnTo>
                  <a:pt x="3400421" y="0"/>
                </a:lnTo>
                <a:cubicBezTo>
                  <a:pt x="3463549" y="0"/>
                  <a:pt x="3514725" y="51176"/>
                  <a:pt x="3514725" y="114304"/>
                </a:cubicBezTo>
                <a:lnTo>
                  <a:pt x="3514725" y="1457321"/>
                </a:lnTo>
                <a:cubicBezTo>
                  <a:pt x="3514725" y="1520449"/>
                  <a:pt x="3463549" y="1571625"/>
                  <a:pt x="340042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54063" y="26884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12" name="Text 9"/>
          <p:cNvSpPr/>
          <p:nvPr/>
        </p:nvSpPr>
        <p:spPr>
          <a:xfrm>
            <a:off x="1082675" y="2669381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Safer Food Decisions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0250" y="2974181"/>
            <a:ext cx="3276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 </a:t>
            </a:r>
            <a:r>
              <a:rPr lang="en-US" sz="105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220 million</a:t>
            </a: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allergy sufferers worldwide to make informed choices and reduce ER visits.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40213" y="2303080"/>
            <a:ext cx="3514725" cy="1571625"/>
          </a:xfrm>
          <a:custGeom>
            <a:avLst/>
            <a:gdLst/>
            <a:ahLst/>
            <a:cxnLst/>
            <a:rect l="l" t="t" r="r" b="b"/>
            <a:pathLst>
              <a:path w="3514725" h="1571625">
                <a:moveTo>
                  <a:pt x="114304" y="0"/>
                </a:moveTo>
                <a:lnTo>
                  <a:pt x="3400421" y="0"/>
                </a:lnTo>
                <a:cubicBezTo>
                  <a:pt x="3463549" y="0"/>
                  <a:pt x="3514725" y="51176"/>
                  <a:pt x="3514725" y="114304"/>
                </a:cubicBezTo>
                <a:lnTo>
                  <a:pt x="3514725" y="1457321"/>
                </a:lnTo>
                <a:cubicBezTo>
                  <a:pt x="3514725" y="1520449"/>
                  <a:pt x="3463549" y="1571625"/>
                  <a:pt x="340042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406106" y="268843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16" name="Text 13"/>
          <p:cNvSpPr/>
          <p:nvPr/>
        </p:nvSpPr>
        <p:spPr>
          <a:xfrm>
            <a:off x="4746625" y="2669381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Knowledge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94200" y="2974181"/>
            <a:ext cx="3276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Democratize nutrition education by translating complex food science into understandable insights.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7850" y="3975102"/>
            <a:ext cx="3514725" cy="1571625"/>
          </a:xfrm>
          <a:custGeom>
            <a:avLst/>
            <a:gdLst/>
            <a:ahLst/>
            <a:cxnLst/>
            <a:rect l="l" t="t" r="r" b="b"/>
            <a:pathLst>
              <a:path w="3514725" h="1571625">
                <a:moveTo>
                  <a:pt x="114304" y="0"/>
                </a:moveTo>
                <a:lnTo>
                  <a:pt x="3400421" y="0"/>
                </a:lnTo>
                <a:cubicBezTo>
                  <a:pt x="3463549" y="0"/>
                  <a:pt x="3514725" y="51176"/>
                  <a:pt x="3514725" y="114304"/>
                </a:cubicBezTo>
                <a:lnTo>
                  <a:pt x="3514725" y="1457321"/>
                </a:lnTo>
                <a:cubicBezTo>
                  <a:pt x="3514725" y="1520449"/>
                  <a:pt x="3463549" y="1571625"/>
                  <a:pt x="340042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A2E2A">
              <a:alpha val="5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54063" y="44092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20" name="Text 17"/>
          <p:cNvSpPr/>
          <p:nvPr/>
        </p:nvSpPr>
        <p:spPr>
          <a:xfrm>
            <a:off x="1082675" y="4390234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 Diseases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0250" y="4695034"/>
            <a:ext cx="3276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users avoid harmful additives, excessive sugars, and unhealthy fats to prevent obesity and diabetes.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40213" y="3975102"/>
            <a:ext cx="3502025" cy="1558925"/>
          </a:xfrm>
          <a:custGeom>
            <a:avLst/>
            <a:gdLst/>
            <a:ahLst/>
            <a:cxnLst/>
            <a:rect l="l" t="t" r="r" b="b"/>
            <a:pathLst>
              <a:path w="3502025" h="1558925">
                <a:moveTo>
                  <a:pt x="114300" y="0"/>
                </a:moveTo>
                <a:lnTo>
                  <a:pt x="3387725" y="0"/>
                </a:lnTo>
                <a:cubicBezTo>
                  <a:pt x="3450851" y="0"/>
                  <a:pt x="3502025" y="51174"/>
                  <a:pt x="3502025" y="114300"/>
                </a:cubicBezTo>
                <a:lnTo>
                  <a:pt x="3502025" y="1444625"/>
                </a:lnTo>
                <a:cubicBezTo>
                  <a:pt x="3502025" y="1507709"/>
                  <a:pt x="3450809" y="1558925"/>
                  <a:pt x="3387725" y="1558925"/>
                </a:cubicBezTo>
                <a:lnTo>
                  <a:pt x="114300" y="1558925"/>
                </a:lnTo>
                <a:cubicBezTo>
                  <a:pt x="51174" y="1558925"/>
                  <a:pt x="0" y="1507751"/>
                  <a:pt x="0" y="14446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C547">
                  <a:alpha val="20000"/>
                </a:srgbClr>
              </a:gs>
              <a:gs pos="100000">
                <a:srgbClr val="D4A574">
                  <a:alpha val="20000"/>
                </a:srgbClr>
              </a:gs>
            </a:gsLst>
            <a:lin ang="2700000" scaled="1"/>
          </a:gradFill>
          <a:ln w="8467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20419" y="4933542"/>
            <a:ext cx="2659635" cy="130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healthcare cost savings by 10 years 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05775" y="1603375"/>
            <a:ext cx="3702050" cy="4130675"/>
          </a:xfrm>
          <a:custGeom>
            <a:avLst/>
            <a:gdLst/>
            <a:ahLst/>
            <a:cxnLst/>
            <a:rect l="l" t="t" r="r" b="b"/>
            <a:pathLst>
              <a:path w="3702050" h="4130675">
                <a:moveTo>
                  <a:pt x="152413" y="0"/>
                </a:moveTo>
                <a:lnTo>
                  <a:pt x="3549637" y="0"/>
                </a:lnTo>
                <a:cubicBezTo>
                  <a:pt x="3633812" y="0"/>
                  <a:pt x="3702050" y="68238"/>
                  <a:pt x="3702050" y="152413"/>
                </a:cubicBezTo>
                <a:lnTo>
                  <a:pt x="3702050" y="3978262"/>
                </a:lnTo>
                <a:cubicBezTo>
                  <a:pt x="3702050" y="4062437"/>
                  <a:pt x="3633812" y="4130675"/>
                  <a:pt x="3549637" y="4130675"/>
                </a:cubicBezTo>
                <a:lnTo>
                  <a:pt x="152413" y="4130675"/>
                </a:lnTo>
                <a:cubicBezTo>
                  <a:pt x="68238" y="4130675"/>
                  <a:pt x="0" y="4062437"/>
                  <a:pt x="0" y="3978262"/>
                </a:cubicBezTo>
                <a:lnTo>
                  <a:pt x="0" y="152413"/>
                </a:lnTo>
                <a:cubicBezTo>
                  <a:pt x="0" y="68294"/>
                  <a:pt x="68294" y="0"/>
                  <a:pt x="152413" y="0"/>
                </a:cubicBezTo>
                <a:close/>
              </a:path>
            </a:pathLst>
          </a:custGeom>
          <a:solidFill>
            <a:srgbClr val="4A7C6F">
              <a:alpha val="14902"/>
            </a:srgbClr>
          </a:solidFill>
          <a:ln w="8467">
            <a:solidFill>
              <a:srgbClr val="4A7C6F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23263" y="18351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D4A574"/>
          </a:solidFill>
          <a:ln/>
        </p:spPr>
      </p:sp>
      <p:sp>
        <p:nvSpPr>
          <p:cNvPr id="26" name="Text 23"/>
          <p:cNvSpPr/>
          <p:nvPr/>
        </p:nvSpPr>
        <p:spPr>
          <a:xfrm>
            <a:off x="8537575" y="1797051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99450" y="22161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339336" y="2254251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Q1-Q2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70950" y="2216151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 Launch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70950" y="2406651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&amp; Android with core scanning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99450" y="27876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324850" y="2825753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Q3-Q4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870950" y="2787653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Database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70950" y="2978153"/>
            <a:ext cx="1514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 products, multi-language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99450" y="33591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C547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8386366" y="3492503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C5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870950" y="3359153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Wearable Integration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870950" y="3549653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Smartwatch apps, CGM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299450" y="39306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8346480" y="4064003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2028+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870950" y="3930653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Platform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870950" y="4121153"/>
            <a:ext cx="122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platform, enterprise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302625" y="4543428"/>
            <a:ext cx="3311525" cy="996950"/>
          </a:xfrm>
          <a:custGeom>
            <a:avLst/>
            <a:gdLst/>
            <a:ahLst/>
            <a:cxnLst/>
            <a:rect l="l" t="t" r="r" b="b"/>
            <a:pathLst>
              <a:path w="3311525" h="996950">
                <a:moveTo>
                  <a:pt x="76197" y="0"/>
                </a:moveTo>
                <a:lnTo>
                  <a:pt x="3235328" y="0"/>
                </a:lnTo>
                <a:cubicBezTo>
                  <a:pt x="3277410" y="0"/>
                  <a:pt x="3311525" y="34115"/>
                  <a:pt x="3311525" y="76197"/>
                </a:cubicBezTo>
                <a:lnTo>
                  <a:pt x="3311525" y="920753"/>
                </a:lnTo>
                <a:cubicBezTo>
                  <a:pt x="3311525" y="962835"/>
                  <a:pt x="3277410" y="996950"/>
                  <a:pt x="3235328" y="996950"/>
                </a:cubicBezTo>
                <a:lnTo>
                  <a:pt x="76197" y="996950"/>
                </a:lnTo>
                <a:cubicBezTo>
                  <a:pt x="34115" y="996950"/>
                  <a:pt x="0" y="962835"/>
                  <a:pt x="0" y="9207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D4A574">
              <a:alpha val="20000"/>
            </a:srgbClr>
          </a:solidFill>
          <a:ln w="8467">
            <a:solidFill>
              <a:srgbClr val="D4A574">
                <a:alpha val="4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20100" y="4660902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Vision: AI Nutritionist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420100" y="4889502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38101" y="0"/>
                </a:moveTo>
                <a:lnTo>
                  <a:pt x="800099" y="0"/>
                </a:lnTo>
                <a:cubicBezTo>
                  <a:pt x="821142" y="0"/>
                  <a:pt x="838200" y="17058"/>
                  <a:pt x="838200" y="38101"/>
                </a:cubicBezTo>
                <a:lnTo>
                  <a:pt x="838200" y="190499"/>
                </a:lnTo>
                <a:cubicBezTo>
                  <a:pt x="838200" y="211542"/>
                  <a:pt x="821142" y="228600"/>
                  <a:pt x="8000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8420100" y="4889502"/>
            <a:ext cx="8953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Meal Planning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331722" y="4889502"/>
            <a:ext cx="1114425" cy="228600"/>
          </a:xfrm>
          <a:custGeom>
            <a:avLst/>
            <a:gdLst/>
            <a:ahLst/>
            <a:cxnLst/>
            <a:rect l="l" t="t" r="r" b="b"/>
            <a:pathLst>
              <a:path w="1114425" h="228600">
                <a:moveTo>
                  <a:pt x="38101" y="0"/>
                </a:moveTo>
                <a:lnTo>
                  <a:pt x="1076324" y="0"/>
                </a:lnTo>
                <a:cubicBezTo>
                  <a:pt x="1097367" y="0"/>
                  <a:pt x="1114425" y="17058"/>
                  <a:pt x="1114425" y="38101"/>
                </a:cubicBezTo>
                <a:lnTo>
                  <a:pt x="1114425" y="190499"/>
                </a:lnTo>
                <a:cubicBezTo>
                  <a:pt x="1114425" y="211542"/>
                  <a:pt x="1097367" y="228600"/>
                  <a:pt x="1076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9331722" y="4889502"/>
            <a:ext cx="1171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Grocery Integration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420100" y="5194302"/>
            <a:ext cx="1152525" cy="228600"/>
          </a:xfrm>
          <a:custGeom>
            <a:avLst/>
            <a:gdLst/>
            <a:ahLst/>
            <a:cxnLst/>
            <a:rect l="l" t="t" r="r" b="b"/>
            <a:pathLst>
              <a:path w="1152525" h="228600">
                <a:moveTo>
                  <a:pt x="38101" y="0"/>
                </a:moveTo>
                <a:lnTo>
                  <a:pt x="1114424" y="0"/>
                </a:lnTo>
                <a:cubicBezTo>
                  <a:pt x="1135467" y="0"/>
                  <a:pt x="1152525" y="17058"/>
                  <a:pt x="1152525" y="38101"/>
                </a:cubicBezTo>
                <a:lnTo>
                  <a:pt x="1152525" y="190499"/>
                </a:lnTo>
                <a:cubicBezTo>
                  <a:pt x="1152525" y="211542"/>
                  <a:pt x="1135467" y="228600"/>
                  <a:pt x="1114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7C6F">
              <a:alpha val="4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8420100" y="5194302"/>
            <a:ext cx="1209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1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 Scanning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323850" y="5892803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D4A574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"Turning complex nutrition into clear, healthy decisions"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511256" y="63281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53" name="Text 50"/>
          <p:cNvSpPr/>
          <p:nvPr/>
        </p:nvSpPr>
        <p:spPr>
          <a:xfrm>
            <a:off x="4694833" y="6311903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588629" y="636706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E8C547"/>
          </a:solidFill>
          <a:ln/>
        </p:spPr>
      </p:sp>
      <p:sp>
        <p:nvSpPr>
          <p:cNvPr id="55" name="Text 52"/>
          <p:cNvSpPr/>
          <p:nvPr/>
        </p:nvSpPr>
        <p:spPr>
          <a:xfrm>
            <a:off x="6226870" y="6311903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996950" y="1819882"/>
            <a:ext cx="7620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030887" y="4409284"/>
            <a:ext cx="224916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90" u="sng" dirty="0">
                <a:solidFill>
                  <a:srgbClr val="3366CC"/>
                </a:solidFill>
                <a:highlight>
                  <a:srgbClr val="000000">
                    <a:alpha val="100000"/>
                  </a:srgbClr>
                </a:highlight>
                <a:latin typeface="sans-serif" pitchFamily="34" charset="0"/>
                <a:ea typeface="sans-serif" pitchFamily="34" charset="-122"/>
                <a:cs typeface="sans-serif" pitchFamily="34" charset="-120"/>
                <a:hlinkClick r:id="rId4" tooltip="Indian rupee 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₹</a:t>
            </a:r>
            <a:r>
              <a:rPr lang="en-US" sz="1600" dirty="0">
                <a:solidFill>
                  <a:srgbClr val="FFC8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74,44,80,00,000</a:t>
            </a:r>
            <a:endParaRPr lang="en-US" sz="1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2B49AE8-4EB8-5A29-F819-2C11049E1C01}"/>
              </a:ext>
            </a:extLst>
          </p:cNvPr>
          <p:cNvSpPr/>
          <p:nvPr/>
        </p:nvSpPr>
        <p:spPr>
          <a:xfrm>
            <a:off x="3803903" y="6328162"/>
            <a:ext cx="2054181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9864994660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EA1A076-8744-1AE0-92C2-DF4D2054AA1E}"/>
              </a:ext>
            </a:extLst>
          </p:cNvPr>
          <p:cNvSpPr/>
          <p:nvPr/>
        </p:nvSpPr>
        <p:spPr>
          <a:xfrm>
            <a:off x="6964462" y="6328162"/>
            <a:ext cx="3283886" cy="142492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https://pure-plate-ai.vercel.app/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549</Words>
  <Application>Microsoft Office PowerPoint</Application>
  <PresentationFormat>Widescreen</PresentationFormat>
  <Paragraphs>169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Quattrocento Sans</vt:lpstr>
      <vt:lpstr>Oranienbaum</vt:lpstr>
      <vt:lpstr>Sorts Mill Goudy</vt:lpstr>
      <vt:lpstr>Arial</vt:lpstr>
      <vt:lpstr>sans-serif</vt:lpstr>
      <vt:lpstr>Liter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NutriAI Co-Pilot</dc:title>
  <dc:subject>NutriAI Co-Pilot</dc:subject>
  <dc:creator>Kimi</dc:creator>
  <cp:lastModifiedBy>Anjanabh Goswami</cp:lastModifiedBy>
  <cp:revision>3</cp:revision>
  <dcterms:created xsi:type="dcterms:W3CDTF">2026-02-06T18:59:08Z</dcterms:created>
  <dcterms:modified xsi:type="dcterms:W3CDTF">2026-02-07T02:58:29Z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{"Label":"NutriAI Co-Pilot","ContentProducer":"001191110108MACG2KBH8F10000","ProduceID":"19c3361d-aaa2-84e5-8000-0000da1f7156","ReservedCode1":"","ContentPropagator":"001191110108MACG2KBH8F20000","PropagateID":"19c3361d-aaa2-84e5-8000-0000da1f7156","ReservedCode2":""}</vt:lpwstr>
  </property>
</Properties>
</file>